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Helvetica World Bold" charset="1" panose="020B0800040000020004"/>
      <p:regular r:id="rId13"/>
    </p:embeddedFont>
    <p:embeddedFont>
      <p:font typeface="Canva Sans Bold" charset="1" panose="020B0803030501040103"/>
      <p:regular r:id="rId14"/>
    </p:embeddedFont>
    <p:embeddedFont>
      <p:font typeface="Canva Sans" charset="1" panose="020B0503030501040103"/>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jpeg" Type="http://schemas.openxmlformats.org/officeDocument/2006/relationships/image"/><Relationship Id="rId5" Target="../media/VAGj1_oGxvQ.mp4" Type="http://schemas.openxmlformats.org/officeDocument/2006/relationships/video"/><Relationship Id="rId6" Target="../media/VAGj1_oGxvQ.mp4" Type="http://schemas.microsoft.com/office/2007/relationships/media"/></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jpeg" Type="http://schemas.openxmlformats.org/officeDocument/2006/relationships/image"/><Relationship Id="rId5" Target="../media/VAGj16taJOM.mp4" Type="http://schemas.openxmlformats.org/officeDocument/2006/relationships/video"/><Relationship Id="rId6" Target="../media/VAGj16taJOM.mp4" Type="http://schemas.microsoft.com/office/2007/relationships/media"/></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jpeg" Type="http://schemas.openxmlformats.org/officeDocument/2006/relationships/image"/><Relationship Id="rId5" Target="../media/VAGj15o3jzQ.mp4" Type="http://schemas.openxmlformats.org/officeDocument/2006/relationships/video"/><Relationship Id="rId6" Target="../media/VAGj15o3jzQ.mp4" Type="http://schemas.microsoft.com/office/2007/relationships/media"/></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jpeg" Type="http://schemas.openxmlformats.org/officeDocument/2006/relationships/image"/><Relationship Id="rId5" Target="../media/VAGj1zMG64s.mp4" Type="http://schemas.openxmlformats.org/officeDocument/2006/relationships/video"/><Relationship Id="rId6" Target="../media/VAGj1zMG64s.mp4" Type="http://schemas.microsoft.com/office/2007/relationships/media"/></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90909"/>
        </a:solidFill>
      </p:bgPr>
    </p:bg>
    <p:spTree>
      <p:nvGrpSpPr>
        <p:cNvPr id="1" name=""/>
        <p:cNvGrpSpPr/>
        <p:nvPr/>
      </p:nvGrpSpPr>
      <p:grpSpPr>
        <a:xfrm>
          <a:off x="0" y="0"/>
          <a:ext cx="0" cy="0"/>
          <a:chOff x="0" y="0"/>
          <a:chExt cx="0" cy="0"/>
        </a:xfrm>
      </p:grpSpPr>
      <p:grpSp>
        <p:nvGrpSpPr>
          <p:cNvPr name="Group 2" id="2"/>
          <p:cNvGrpSpPr/>
          <p:nvPr/>
        </p:nvGrpSpPr>
        <p:grpSpPr>
          <a:xfrm rot="0">
            <a:off x="-386085" y="-159421"/>
            <a:ext cx="19060169" cy="10605843"/>
            <a:chOff x="0" y="0"/>
            <a:chExt cx="25413559" cy="14141124"/>
          </a:xfrm>
        </p:grpSpPr>
        <p:sp>
          <p:nvSpPr>
            <p:cNvPr name="Freeform 3" id="3"/>
            <p:cNvSpPr/>
            <p:nvPr/>
          </p:nvSpPr>
          <p:spPr>
            <a:xfrm flipH="false" flipV="false" rot="0">
              <a:off x="0" y="0"/>
              <a:ext cx="14141124" cy="14141124"/>
            </a:xfrm>
            <a:custGeom>
              <a:avLst/>
              <a:gdLst/>
              <a:ahLst/>
              <a:cxnLst/>
              <a:rect r="r" b="b" t="t" l="l"/>
              <a:pathLst>
                <a:path h="14141124" w="14141124">
                  <a:moveTo>
                    <a:pt x="0" y="0"/>
                  </a:moveTo>
                  <a:lnTo>
                    <a:pt x="14141124" y="0"/>
                  </a:lnTo>
                  <a:lnTo>
                    <a:pt x="14141124" y="14141124"/>
                  </a:lnTo>
                  <a:lnTo>
                    <a:pt x="0" y="14141124"/>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272435" y="0"/>
              <a:ext cx="14141124" cy="14141124"/>
            </a:xfrm>
            <a:custGeom>
              <a:avLst/>
              <a:gdLst/>
              <a:ahLst/>
              <a:cxnLst/>
              <a:rect r="r" b="b" t="t" l="l"/>
              <a:pathLst>
                <a:path h="14141124" w="14141124">
                  <a:moveTo>
                    <a:pt x="0" y="0"/>
                  </a:moveTo>
                  <a:lnTo>
                    <a:pt x="14141124" y="0"/>
                  </a:lnTo>
                  <a:lnTo>
                    <a:pt x="14141124" y="14141124"/>
                  </a:lnTo>
                  <a:lnTo>
                    <a:pt x="0" y="14141124"/>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133443" y="3705966"/>
            <a:ext cx="3324974" cy="771704"/>
            <a:chOff x="0" y="0"/>
            <a:chExt cx="1060504" cy="246136"/>
          </a:xfrm>
        </p:grpSpPr>
        <p:sp>
          <p:nvSpPr>
            <p:cNvPr name="Freeform 6" id="6"/>
            <p:cNvSpPr/>
            <p:nvPr/>
          </p:nvSpPr>
          <p:spPr>
            <a:xfrm flipH="false" flipV="false" rot="0">
              <a:off x="0" y="0"/>
              <a:ext cx="1060503" cy="246136"/>
            </a:xfrm>
            <a:custGeom>
              <a:avLst/>
              <a:gdLst/>
              <a:ahLst/>
              <a:cxnLst/>
              <a:rect r="r" b="b" t="t" l="l"/>
              <a:pathLst>
                <a:path h="246136" w="1060503">
                  <a:moveTo>
                    <a:pt x="118749" y="0"/>
                  </a:moveTo>
                  <a:lnTo>
                    <a:pt x="941754" y="0"/>
                  </a:lnTo>
                  <a:cubicBezTo>
                    <a:pt x="973249" y="0"/>
                    <a:pt x="1003453" y="12511"/>
                    <a:pt x="1025723" y="34781"/>
                  </a:cubicBezTo>
                  <a:cubicBezTo>
                    <a:pt x="1047992" y="57051"/>
                    <a:pt x="1060503" y="87255"/>
                    <a:pt x="1060503" y="118749"/>
                  </a:cubicBezTo>
                  <a:lnTo>
                    <a:pt x="1060503" y="127387"/>
                  </a:lnTo>
                  <a:cubicBezTo>
                    <a:pt x="1060503" y="158881"/>
                    <a:pt x="1047992" y="189085"/>
                    <a:pt x="1025723" y="211355"/>
                  </a:cubicBezTo>
                  <a:cubicBezTo>
                    <a:pt x="1003453" y="233625"/>
                    <a:pt x="973249" y="246136"/>
                    <a:pt x="941754" y="246136"/>
                  </a:cubicBezTo>
                  <a:lnTo>
                    <a:pt x="118749" y="246136"/>
                  </a:lnTo>
                  <a:cubicBezTo>
                    <a:pt x="87255" y="246136"/>
                    <a:pt x="57051" y="233625"/>
                    <a:pt x="34781" y="211355"/>
                  </a:cubicBezTo>
                  <a:cubicBezTo>
                    <a:pt x="12511" y="189085"/>
                    <a:pt x="0" y="158881"/>
                    <a:pt x="0" y="127387"/>
                  </a:cubicBezTo>
                  <a:lnTo>
                    <a:pt x="0" y="118749"/>
                  </a:lnTo>
                  <a:cubicBezTo>
                    <a:pt x="0" y="87255"/>
                    <a:pt x="12511" y="57051"/>
                    <a:pt x="34781" y="34781"/>
                  </a:cubicBezTo>
                  <a:cubicBezTo>
                    <a:pt x="57051" y="12511"/>
                    <a:pt x="87255" y="0"/>
                    <a:pt x="118749" y="0"/>
                  </a:cubicBezTo>
                  <a:close/>
                </a:path>
              </a:pathLst>
            </a:custGeom>
            <a:solidFill>
              <a:srgbClr val="000000">
                <a:alpha val="0"/>
              </a:srgbClr>
            </a:solidFill>
            <a:ln w="19050" cap="rnd">
              <a:solidFill>
                <a:srgbClr val="FFFFFF"/>
              </a:solidFill>
              <a:prstDash val="solid"/>
              <a:round/>
            </a:ln>
          </p:spPr>
        </p:sp>
        <p:sp>
          <p:nvSpPr>
            <p:cNvPr name="TextBox 7" id="7"/>
            <p:cNvSpPr txBox="true"/>
            <p:nvPr/>
          </p:nvSpPr>
          <p:spPr>
            <a:xfrm>
              <a:off x="0" y="-47625"/>
              <a:ext cx="1060504" cy="293761"/>
            </a:xfrm>
            <a:prstGeom prst="rect">
              <a:avLst/>
            </a:prstGeom>
          </p:spPr>
          <p:txBody>
            <a:bodyPr anchor="ctr" rtlCol="false" tIns="50800" lIns="50800" bIns="50800" rIns="50800"/>
            <a:lstStyle/>
            <a:p>
              <a:pPr algn="ctr">
                <a:lnSpc>
                  <a:spcPts val="3669"/>
                </a:lnSpc>
              </a:pPr>
            </a:p>
          </p:txBody>
        </p:sp>
      </p:grpSp>
      <p:grpSp>
        <p:nvGrpSpPr>
          <p:cNvPr name="Group 8" id="8"/>
          <p:cNvGrpSpPr/>
          <p:nvPr/>
        </p:nvGrpSpPr>
        <p:grpSpPr>
          <a:xfrm rot="0">
            <a:off x="-514350" y="9883238"/>
            <a:ext cx="21040117" cy="3086100"/>
            <a:chOff x="0" y="0"/>
            <a:chExt cx="5541430" cy="812800"/>
          </a:xfrm>
        </p:grpSpPr>
        <p:sp>
          <p:nvSpPr>
            <p:cNvPr name="Freeform 9" id="9"/>
            <p:cNvSpPr/>
            <p:nvPr/>
          </p:nvSpPr>
          <p:spPr>
            <a:xfrm flipH="false" flipV="false" rot="0">
              <a:off x="0" y="0"/>
              <a:ext cx="5541430" cy="812800"/>
            </a:xfrm>
            <a:custGeom>
              <a:avLst/>
              <a:gdLst/>
              <a:ahLst/>
              <a:cxnLst/>
              <a:rect r="r" b="b" t="t" l="l"/>
              <a:pathLst>
                <a:path h="812800" w="5541430">
                  <a:moveTo>
                    <a:pt x="0" y="0"/>
                  </a:moveTo>
                  <a:lnTo>
                    <a:pt x="5541430" y="0"/>
                  </a:lnTo>
                  <a:lnTo>
                    <a:pt x="5541430" y="812800"/>
                  </a:lnTo>
                  <a:lnTo>
                    <a:pt x="0" y="812800"/>
                  </a:lnTo>
                  <a:close/>
                </a:path>
              </a:pathLst>
            </a:custGeom>
            <a:solidFill>
              <a:srgbClr val="DAFFFB"/>
            </a:solidFill>
          </p:spPr>
        </p:sp>
        <p:sp>
          <p:nvSpPr>
            <p:cNvPr name="TextBox 10" id="10"/>
            <p:cNvSpPr txBox="true"/>
            <p:nvPr/>
          </p:nvSpPr>
          <p:spPr>
            <a:xfrm>
              <a:off x="0" y="-38100"/>
              <a:ext cx="5541430" cy="850900"/>
            </a:xfrm>
            <a:prstGeom prst="rect">
              <a:avLst/>
            </a:prstGeom>
          </p:spPr>
          <p:txBody>
            <a:bodyPr anchor="ctr" rtlCol="false" tIns="50800" lIns="50800" bIns="50800" rIns="50800"/>
            <a:lstStyle/>
            <a:p>
              <a:pPr algn="ctr">
                <a:lnSpc>
                  <a:spcPts val="3462"/>
                </a:lnSpc>
              </a:pPr>
            </a:p>
          </p:txBody>
        </p:sp>
      </p:grpSp>
      <p:sp>
        <p:nvSpPr>
          <p:cNvPr name="TextBox 11" id="11"/>
          <p:cNvSpPr txBox="true"/>
          <p:nvPr/>
        </p:nvSpPr>
        <p:spPr>
          <a:xfrm rot="0">
            <a:off x="1133443" y="5277014"/>
            <a:ext cx="9635546" cy="2942652"/>
          </a:xfrm>
          <a:prstGeom prst="rect">
            <a:avLst/>
          </a:prstGeom>
        </p:spPr>
        <p:txBody>
          <a:bodyPr anchor="t" rtlCol="false" tIns="0" lIns="0" bIns="0" rIns="0">
            <a:spAutoFit/>
          </a:bodyPr>
          <a:lstStyle/>
          <a:p>
            <a:pPr algn="l">
              <a:lnSpc>
                <a:spcPts val="9448"/>
              </a:lnSpc>
            </a:pPr>
            <a:r>
              <a:rPr lang="en-US" sz="12597" spc="-440" b="true">
                <a:solidFill>
                  <a:srgbClr val="DAFFFB"/>
                </a:solidFill>
                <a:latin typeface="Helvetica World Bold"/>
                <a:ea typeface="Helvetica World Bold"/>
                <a:cs typeface="Helvetica World Bold"/>
                <a:sym typeface="Helvetica World Bold"/>
              </a:rPr>
              <a:t>Artificial Intelligence</a:t>
            </a:r>
          </a:p>
        </p:txBody>
      </p:sp>
      <p:sp>
        <p:nvSpPr>
          <p:cNvPr name="TextBox 12" id="12"/>
          <p:cNvSpPr txBox="true"/>
          <p:nvPr/>
        </p:nvSpPr>
        <p:spPr>
          <a:xfrm rot="0">
            <a:off x="1258176" y="8419691"/>
            <a:ext cx="10041727" cy="1250554"/>
          </a:xfrm>
          <a:prstGeom prst="rect">
            <a:avLst/>
          </a:prstGeom>
        </p:spPr>
        <p:txBody>
          <a:bodyPr anchor="t" rtlCol="false" tIns="0" lIns="0" bIns="0" rIns="0">
            <a:spAutoFit/>
          </a:bodyPr>
          <a:lstStyle/>
          <a:p>
            <a:pPr algn="just">
              <a:lnSpc>
                <a:spcPts val="5096"/>
              </a:lnSpc>
            </a:pPr>
            <a:r>
              <a:rPr lang="en-US" sz="3640" b="true">
                <a:solidFill>
                  <a:srgbClr val="FFFFFF"/>
                </a:solidFill>
                <a:latin typeface="Canva Sans Bold"/>
                <a:ea typeface="Canva Sans Bold"/>
                <a:cs typeface="Canva Sans Bold"/>
                <a:sym typeface="Canva Sans Bold"/>
              </a:rPr>
              <a:t>Shankheshkumar Ambaliya (CS22B005)</a:t>
            </a:r>
          </a:p>
          <a:p>
            <a:pPr algn="just">
              <a:lnSpc>
                <a:spcPts val="5096"/>
              </a:lnSpc>
            </a:pPr>
            <a:r>
              <a:rPr lang="en-US" b="true" sz="3640">
                <a:solidFill>
                  <a:srgbClr val="FFFFFF"/>
                </a:solidFill>
                <a:latin typeface="Canva Sans Bold"/>
                <a:ea typeface="Canva Sans Bold"/>
                <a:cs typeface="Canva Sans Bold"/>
                <a:sym typeface="Canva Sans Bold"/>
              </a:rPr>
              <a:t>Aakarsh Bansal (CS22B001)</a:t>
            </a:r>
          </a:p>
        </p:txBody>
      </p:sp>
      <p:sp>
        <p:nvSpPr>
          <p:cNvPr name="TextBox 13" id="13"/>
          <p:cNvSpPr txBox="true"/>
          <p:nvPr/>
        </p:nvSpPr>
        <p:spPr>
          <a:xfrm rot="0">
            <a:off x="1258176" y="3769327"/>
            <a:ext cx="3030151" cy="578308"/>
          </a:xfrm>
          <a:prstGeom prst="rect">
            <a:avLst/>
          </a:prstGeom>
        </p:spPr>
        <p:txBody>
          <a:bodyPr anchor="t" rtlCol="false" tIns="0" lIns="0" bIns="0" rIns="0">
            <a:spAutoFit/>
          </a:bodyPr>
          <a:lstStyle/>
          <a:p>
            <a:pPr algn="ctr">
              <a:lnSpc>
                <a:spcPts val="4747"/>
              </a:lnSpc>
            </a:pPr>
            <a:r>
              <a:rPr lang="en-US" sz="3390">
                <a:solidFill>
                  <a:srgbClr val="FFFFFF"/>
                </a:solidFill>
                <a:latin typeface="Canva Sans"/>
                <a:ea typeface="Canva Sans"/>
                <a:cs typeface="Canva Sans"/>
                <a:sym typeface="Canva Sans"/>
              </a:rPr>
              <a:t>Assignment-2</a:t>
            </a:r>
          </a:p>
        </p:txBody>
      </p:sp>
      <p:sp>
        <p:nvSpPr>
          <p:cNvPr name="Freeform 14" id="14"/>
          <p:cNvSpPr/>
          <p:nvPr/>
        </p:nvSpPr>
        <p:spPr>
          <a:xfrm flipH="false" flipV="false" rot="0">
            <a:off x="11299903" y="851141"/>
            <a:ext cx="5464491" cy="11325370"/>
          </a:xfrm>
          <a:custGeom>
            <a:avLst/>
            <a:gdLst/>
            <a:ahLst/>
            <a:cxnLst/>
            <a:rect r="r" b="b" t="t" l="l"/>
            <a:pathLst>
              <a:path h="11325370" w="5464491">
                <a:moveTo>
                  <a:pt x="0" y="0"/>
                </a:moveTo>
                <a:lnTo>
                  <a:pt x="5464491" y="0"/>
                </a:lnTo>
                <a:lnTo>
                  <a:pt x="5464491" y="11325370"/>
                </a:lnTo>
                <a:lnTo>
                  <a:pt x="0" y="11325370"/>
                </a:lnTo>
                <a:lnTo>
                  <a:pt x="0" y="0"/>
                </a:lnTo>
                <a:close/>
              </a:path>
            </a:pathLst>
          </a:custGeom>
          <a:blipFill>
            <a:blip r:embed="rId4"/>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90909"/>
        </a:solidFill>
      </p:bgPr>
    </p:bg>
    <p:spTree>
      <p:nvGrpSpPr>
        <p:cNvPr id="1" name=""/>
        <p:cNvGrpSpPr/>
        <p:nvPr/>
      </p:nvGrpSpPr>
      <p:grpSpPr>
        <a:xfrm>
          <a:off x="0" y="0"/>
          <a:ext cx="0" cy="0"/>
          <a:chOff x="0" y="0"/>
          <a:chExt cx="0" cy="0"/>
        </a:xfrm>
      </p:grpSpPr>
      <p:grpSp>
        <p:nvGrpSpPr>
          <p:cNvPr name="Group 2" id="2"/>
          <p:cNvGrpSpPr/>
          <p:nvPr/>
        </p:nvGrpSpPr>
        <p:grpSpPr>
          <a:xfrm rot="0">
            <a:off x="-386085" y="-159421"/>
            <a:ext cx="19060169" cy="10605843"/>
            <a:chOff x="0" y="0"/>
            <a:chExt cx="25413559" cy="14141124"/>
          </a:xfrm>
        </p:grpSpPr>
        <p:sp>
          <p:nvSpPr>
            <p:cNvPr name="Freeform 3" id="3"/>
            <p:cNvSpPr/>
            <p:nvPr/>
          </p:nvSpPr>
          <p:spPr>
            <a:xfrm flipH="false" flipV="false" rot="0">
              <a:off x="0" y="0"/>
              <a:ext cx="14141124" cy="14141124"/>
            </a:xfrm>
            <a:custGeom>
              <a:avLst/>
              <a:gdLst/>
              <a:ahLst/>
              <a:cxnLst/>
              <a:rect r="r" b="b" t="t" l="l"/>
              <a:pathLst>
                <a:path h="14141124" w="14141124">
                  <a:moveTo>
                    <a:pt x="0" y="0"/>
                  </a:moveTo>
                  <a:lnTo>
                    <a:pt x="14141124" y="0"/>
                  </a:lnTo>
                  <a:lnTo>
                    <a:pt x="14141124" y="14141124"/>
                  </a:lnTo>
                  <a:lnTo>
                    <a:pt x="0" y="14141124"/>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272435" y="0"/>
              <a:ext cx="14141124" cy="14141124"/>
            </a:xfrm>
            <a:custGeom>
              <a:avLst/>
              <a:gdLst/>
              <a:ahLst/>
              <a:cxnLst/>
              <a:rect r="r" b="b" t="t" l="l"/>
              <a:pathLst>
                <a:path h="14141124" w="14141124">
                  <a:moveTo>
                    <a:pt x="0" y="0"/>
                  </a:moveTo>
                  <a:lnTo>
                    <a:pt x="14141124" y="0"/>
                  </a:lnTo>
                  <a:lnTo>
                    <a:pt x="14141124" y="14141124"/>
                  </a:lnTo>
                  <a:lnTo>
                    <a:pt x="0" y="14141124"/>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514350" y="9883238"/>
            <a:ext cx="21040117" cy="3086100"/>
            <a:chOff x="0" y="0"/>
            <a:chExt cx="5541430" cy="812800"/>
          </a:xfrm>
        </p:grpSpPr>
        <p:sp>
          <p:nvSpPr>
            <p:cNvPr name="Freeform 6" id="6"/>
            <p:cNvSpPr/>
            <p:nvPr/>
          </p:nvSpPr>
          <p:spPr>
            <a:xfrm flipH="false" flipV="false" rot="0">
              <a:off x="0" y="0"/>
              <a:ext cx="5541430" cy="812800"/>
            </a:xfrm>
            <a:custGeom>
              <a:avLst/>
              <a:gdLst/>
              <a:ahLst/>
              <a:cxnLst/>
              <a:rect r="r" b="b" t="t" l="l"/>
              <a:pathLst>
                <a:path h="812800" w="5541430">
                  <a:moveTo>
                    <a:pt x="0" y="0"/>
                  </a:moveTo>
                  <a:lnTo>
                    <a:pt x="5541430" y="0"/>
                  </a:lnTo>
                  <a:lnTo>
                    <a:pt x="5541430" y="812800"/>
                  </a:lnTo>
                  <a:lnTo>
                    <a:pt x="0" y="812800"/>
                  </a:lnTo>
                  <a:close/>
                </a:path>
              </a:pathLst>
            </a:custGeom>
            <a:solidFill>
              <a:srgbClr val="DAFFFB"/>
            </a:solidFill>
          </p:spPr>
        </p:sp>
        <p:sp>
          <p:nvSpPr>
            <p:cNvPr name="TextBox 7" id="7"/>
            <p:cNvSpPr txBox="true"/>
            <p:nvPr/>
          </p:nvSpPr>
          <p:spPr>
            <a:xfrm>
              <a:off x="0" y="-38100"/>
              <a:ext cx="5541430" cy="850900"/>
            </a:xfrm>
            <a:prstGeom prst="rect">
              <a:avLst/>
            </a:prstGeom>
          </p:spPr>
          <p:txBody>
            <a:bodyPr anchor="ctr" rtlCol="false" tIns="50800" lIns="50800" bIns="50800" rIns="50800"/>
            <a:lstStyle/>
            <a:p>
              <a:pPr algn="ctr">
                <a:lnSpc>
                  <a:spcPts val="3462"/>
                </a:lnSpc>
              </a:pPr>
            </a:p>
          </p:txBody>
        </p:sp>
      </p:grpSp>
      <p:pic>
        <p:nvPicPr>
          <p:cNvPr name="Picture 8" id="8">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0" r="0" b="0"/>
          <a:stretch>
            <a:fillRect/>
          </a:stretch>
        </p:blipFill>
        <p:spPr>
          <a:xfrm flipH="false" flipV="false" rot="0">
            <a:off x="11039614" y="2194436"/>
            <a:ext cx="6219686" cy="5608915"/>
          </a:xfrm>
          <a:prstGeom prst="rect">
            <a:avLst/>
          </a:prstGeom>
        </p:spPr>
      </p:pic>
      <p:sp>
        <p:nvSpPr>
          <p:cNvPr name="TextBox 9" id="9"/>
          <p:cNvSpPr txBox="true"/>
          <p:nvPr/>
        </p:nvSpPr>
        <p:spPr>
          <a:xfrm rot="0">
            <a:off x="1028700" y="5363183"/>
            <a:ext cx="9323603" cy="2033422"/>
          </a:xfrm>
          <a:prstGeom prst="rect">
            <a:avLst/>
          </a:prstGeom>
        </p:spPr>
        <p:txBody>
          <a:bodyPr anchor="t" rtlCol="false" tIns="0" lIns="0" bIns="0" rIns="0">
            <a:spAutoFit/>
          </a:bodyPr>
          <a:lstStyle/>
          <a:p>
            <a:pPr algn="l">
              <a:lnSpc>
                <a:spcPts val="2336"/>
              </a:lnSpc>
            </a:pPr>
            <a:r>
              <a:rPr lang="en-US" sz="2540" spc="-88" b="true">
                <a:solidFill>
                  <a:srgbClr val="DAFFFB"/>
                </a:solidFill>
                <a:latin typeface="Helvetica World Bold"/>
                <a:ea typeface="Helvetica World Bold"/>
                <a:cs typeface="Helvetica World Bold"/>
                <a:sym typeface="Helvetica World Bold"/>
              </a:rPr>
              <a:t>The code uses Branch and Bound without a heuristic, exploring paths by increasing cost, but fails due to incorrect state transitions using a single environment instance. Its performance is unreliable on FrozenLake unless made deterministic (is_slippery=False) and corrected to simulate transitions properly</a:t>
            </a:r>
          </a:p>
        </p:txBody>
      </p:sp>
      <p:sp>
        <p:nvSpPr>
          <p:cNvPr name="TextBox 10" id="10"/>
          <p:cNvSpPr txBox="true"/>
          <p:nvPr/>
        </p:nvSpPr>
        <p:spPr>
          <a:xfrm rot="0">
            <a:off x="1028700" y="2486170"/>
            <a:ext cx="9323603" cy="2226812"/>
          </a:xfrm>
          <a:prstGeom prst="rect">
            <a:avLst/>
          </a:prstGeom>
        </p:spPr>
        <p:txBody>
          <a:bodyPr anchor="t" rtlCol="false" tIns="0" lIns="0" bIns="0" rIns="0">
            <a:spAutoFit/>
          </a:bodyPr>
          <a:lstStyle/>
          <a:p>
            <a:pPr algn="l">
              <a:lnSpc>
                <a:spcPts val="3549"/>
              </a:lnSpc>
            </a:pPr>
            <a:r>
              <a:rPr lang="en-US" sz="2535">
                <a:solidFill>
                  <a:srgbClr val="FFFFFF"/>
                </a:solidFill>
                <a:latin typeface="Canva Sans"/>
                <a:ea typeface="Canva Sans"/>
                <a:cs typeface="Canva Sans"/>
                <a:sym typeface="Canva Sans"/>
              </a:rPr>
              <a:t>The Branch and Bound algorithm does not use a heuristic function — it is a uniform-cost search strategy. That means:</a:t>
            </a:r>
          </a:p>
          <a:p>
            <a:pPr algn="l" marL="547441" indent="-273720" lvl="1">
              <a:lnSpc>
                <a:spcPts val="3549"/>
              </a:lnSpc>
              <a:buFont typeface="Arial"/>
              <a:buChar char="•"/>
            </a:pPr>
            <a:r>
              <a:rPr lang="en-US" sz="2535">
                <a:solidFill>
                  <a:srgbClr val="FFFFFF"/>
                </a:solidFill>
                <a:latin typeface="Canva Sans"/>
                <a:ea typeface="Canva Sans"/>
                <a:cs typeface="Canva Sans"/>
                <a:sym typeface="Canva Sans"/>
              </a:rPr>
              <a:t>It explores paths in order of their cost from the start.</a:t>
            </a:r>
          </a:p>
          <a:p>
            <a:pPr algn="l" marL="547441" indent="-273720" lvl="1">
              <a:lnSpc>
                <a:spcPts val="3549"/>
              </a:lnSpc>
              <a:buFont typeface="Arial"/>
              <a:buChar char="•"/>
            </a:pPr>
            <a:r>
              <a:rPr lang="en-US" sz="2535">
                <a:solidFill>
                  <a:srgbClr val="FFFFFF"/>
                </a:solidFill>
                <a:latin typeface="Canva Sans"/>
                <a:ea typeface="Canva Sans"/>
                <a:cs typeface="Canva Sans"/>
                <a:sym typeface="Canva Sans"/>
              </a:rPr>
              <a:t>It does not estimate the remaining cost to the goal.</a:t>
            </a:r>
          </a:p>
          <a:p>
            <a:pPr algn="l">
              <a:lnSpc>
                <a:spcPts val="3549"/>
              </a:lnSpc>
            </a:pPr>
          </a:p>
        </p:txBody>
      </p:sp>
      <p:sp>
        <p:nvSpPr>
          <p:cNvPr name="TextBox 11" id="11"/>
          <p:cNvSpPr txBox="true"/>
          <p:nvPr/>
        </p:nvSpPr>
        <p:spPr>
          <a:xfrm rot="0">
            <a:off x="5281031" y="457200"/>
            <a:ext cx="7725938" cy="1028700"/>
          </a:xfrm>
          <a:prstGeom prst="rect">
            <a:avLst/>
          </a:prstGeom>
        </p:spPr>
        <p:txBody>
          <a:bodyPr anchor="t" rtlCol="false" tIns="0" lIns="0" bIns="0" rIns="0">
            <a:spAutoFit/>
          </a:bodyPr>
          <a:lstStyle/>
          <a:p>
            <a:pPr algn="ctr">
              <a:lnSpc>
                <a:spcPts val="8400"/>
              </a:lnSpc>
              <a:spcBef>
                <a:spcPct val="0"/>
              </a:spcBef>
            </a:pPr>
            <a:r>
              <a:rPr lang="en-US" b="true" sz="6000">
                <a:solidFill>
                  <a:srgbClr val="FFFFFF"/>
                </a:solidFill>
                <a:latin typeface="Canva Sans Bold"/>
                <a:ea typeface="Canva Sans Bold"/>
                <a:cs typeface="Canva Sans Bold"/>
                <a:sym typeface="Canva Sans Bold"/>
              </a:rPr>
              <a:t>Branch and Bound </a:t>
            </a:r>
          </a:p>
        </p:txBody>
      </p:sp>
    </p:spTree>
  </p:cSld>
  <p:clrMapOvr>
    <a:masterClrMapping/>
  </p:clrMapOvr>
  <p:timing>
    <p:tnLst>
      <p:par>
        <p:cTn dur="indefinite" restart="never" nodeType="tmRoot">
          <p:childTnLst>
            <p:video>
              <p:cMediaNode vol="0">
                <p:cTn fill="hold" display="false">
                  <p:stCondLst>
                    <p:cond delay="indefinite"/>
                  </p:stCondLst>
                </p:cTn>
                <p:tgtEl>
                  <p:spTgt spid="8"/>
                </p:tgtEl>
              </p:cMediaNode>
            </p:video>
          </p:childTnLst>
        </p:cTn>
      </p:par>
    </p:tnLst>
  </p:timing>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90909"/>
        </a:solidFill>
      </p:bgPr>
    </p:bg>
    <p:spTree>
      <p:nvGrpSpPr>
        <p:cNvPr id="1" name=""/>
        <p:cNvGrpSpPr/>
        <p:nvPr/>
      </p:nvGrpSpPr>
      <p:grpSpPr>
        <a:xfrm>
          <a:off x="0" y="0"/>
          <a:ext cx="0" cy="0"/>
          <a:chOff x="0" y="0"/>
          <a:chExt cx="0" cy="0"/>
        </a:xfrm>
      </p:grpSpPr>
      <p:grpSp>
        <p:nvGrpSpPr>
          <p:cNvPr name="Group 2" id="2"/>
          <p:cNvGrpSpPr/>
          <p:nvPr/>
        </p:nvGrpSpPr>
        <p:grpSpPr>
          <a:xfrm rot="0">
            <a:off x="-386085" y="-159421"/>
            <a:ext cx="19060169" cy="10605843"/>
            <a:chOff x="0" y="0"/>
            <a:chExt cx="25413559" cy="14141124"/>
          </a:xfrm>
        </p:grpSpPr>
        <p:sp>
          <p:nvSpPr>
            <p:cNvPr name="Freeform 3" id="3"/>
            <p:cNvSpPr/>
            <p:nvPr/>
          </p:nvSpPr>
          <p:spPr>
            <a:xfrm flipH="false" flipV="false" rot="0">
              <a:off x="0" y="0"/>
              <a:ext cx="14141124" cy="14141124"/>
            </a:xfrm>
            <a:custGeom>
              <a:avLst/>
              <a:gdLst/>
              <a:ahLst/>
              <a:cxnLst/>
              <a:rect r="r" b="b" t="t" l="l"/>
              <a:pathLst>
                <a:path h="14141124" w="14141124">
                  <a:moveTo>
                    <a:pt x="0" y="0"/>
                  </a:moveTo>
                  <a:lnTo>
                    <a:pt x="14141124" y="0"/>
                  </a:lnTo>
                  <a:lnTo>
                    <a:pt x="14141124" y="14141124"/>
                  </a:lnTo>
                  <a:lnTo>
                    <a:pt x="0" y="14141124"/>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272435" y="0"/>
              <a:ext cx="14141124" cy="14141124"/>
            </a:xfrm>
            <a:custGeom>
              <a:avLst/>
              <a:gdLst/>
              <a:ahLst/>
              <a:cxnLst/>
              <a:rect r="r" b="b" t="t" l="l"/>
              <a:pathLst>
                <a:path h="14141124" w="14141124">
                  <a:moveTo>
                    <a:pt x="0" y="0"/>
                  </a:moveTo>
                  <a:lnTo>
                    <a:pt x="14141124" y="0"/>
                  </a:lnTo>
                  <a:lnTo>
                    <a:pt x="14141124" y="14141124"/>
                  </a:lnTo>
                  <a:lnTo>
                    <a:pt x="0" y="14141124"/>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8067866" y="2059959"/>
            <a:ext cx="9124043" cy="2696807"/>
            <a:chOff x="0" y="0"/>
            <a:chExt cx="2910122" cy="860149"/>
          </a:xfrm>
        </p:grpSpPr>
        <p:sp>
          <p:nvSpPr>
            <p:cNvPr name="Freeform 6" id="6"/>
            <p:cNvSpPr/>
            <p:nvPr/>
          </p:nvSpPr>
          <p:spPr>
            <a:xfrm flipH="false" flipV="false" rot="0">
              <a:off x="0" y="0"/>
              <a:ext cx="2910122" cy="860149"/>
            </a:xfrm>
            <a:custGeom>
              <a:avLst/>
              <a:gdLst/>
              <a:ahLst/>
              <a:cxnLst/>
              <a:rect r="r" b="b" t="t" l="l"/>
              <a:pathLst>
                <a:path h="860149" w="2910122">
                  <a:moveTo>
                    <a:pt x="43274" y="0"/>
                  </a:moveTo>
                  <a:lnTo>
                    <a:pt x="2866847" y="0"/>
                  </a:lnTo>
                  <a:cubicBezTo>
                    <a:pt x="2890747" y="0"/>
                    <a:pt x="2910122" y="19375"/>
                    <a:pt x="2910122" y="43274"/>
                  </a:cubicBezTo>
                  <a:lnTo>
                    <a:pt x="2910122" y="816875"/>
                  </a:lnTo>
                  <a:cubicBezTo>
                    <a:pt x="2910122" y="840775"/>
                    <a:pt x="2890747" y="860149"/>
                    <a:pt x="2866847" y="860149"/>
                  </a:cubicBezTo>
                  <a:lnTo>
                    <a:pt x="43274" y="860149"/>
                  </a:lnTo>
                  <a:cubicBezTo>
                    <a:pt x="19375" y="860149"/>
                    <a:pt x="0" y="840775"/>
                    <a:pt x="0" y="816875"/>
                  </a:cubicBezTo>
                  <a:lnTo>
                    <a:pt x="0" y="43274"/>
                  </a:lnTo>
                  <a:cubicBezTo>
                    <a:pt x="0" y="19375"/>
                    <a:pt x="19375" y="0"/>
                    <a:pt x="43274" y="0"/>
                  </a:cubicBezTo>
                  <a:close/>
                </a:path>
              </a:pathLst>
            </a:custGeom>
            <a:solidFill>
              <a:srgbClr val="000000">
                <a:alpha val="0"/>
              </a:srgbClr>
            </a:solidFill>
            <a:ln w="19050" cap="rnd">
              <a:solidFill>
                <a:srgbClr val="FFFFFF"/>
              </a:solidFill>
              <a:prstDash val="solid"/>
              <a:round/>
            </a:ln>
          </p:spPr>
        </p:sp>
        <p:sp>
          <p:nvSpPr>
            <p:cNvPr name="TextBox 7" id="7"/>
            <p:cNvSpPr txBox="true"/>
            <p:nvPr/>
          </p:nvSpPr>
          <p:spPr>
            <a:xfrm>
              <a:off x="0" y="-47625"/>
              <a:ext cx="2910122" cy="907774"/>
            </a:xfrm>
            <a:prstGeom prst="rect">
              <a:avLst/>
            </a:prstGeom>
          </p:spPr>
          <p:txBody>
            <a:bodyPr anchor="ctr" rtlCol="false" tIns="50800" lIns="50800" bIns="50800" rIns="50800"/>
            <a:lstStyle/>
            <a:p>
              <a:pPr algn="ctr">
                <a:lnSpc>
                  <a:spcPts val="3669"/>
                </a:lnSpc>
              </a:pPr>
            </a:p>
          </p:txBody>
        </p:sp>
      </p:grpSp>
      <p:grpSp>
        <p:nvGrpSpPr>
          <p:cNvPr name="Group 8" id="8"/>
          <p:cNvGrpSpPr/>
          <p:nvPr/>
        </p:nvGrpSpPr>
        <p:grpSpPr>
          <a:xfrm rot="0">
            <a:off x="-514350" y="9883238"/>
            <a:ext cx="21040117" cy="3086100"/>
            <a:chOff x="0" y="0"/>
            <a:chExt cx="5541430" cy="812800"/>
          </a:xfrm>
        </p:grpSpPr>
        <p:sp>
          <p:nvSpPr>
            <p:cNvPr name="Freeform 9" id="9"/>
            <p:cNvSpPr/>
            <p:nvPr/>
          </p:nvSpPr>
          <p:spPr>
            <a:xfrm flipH="false" flipV="false" rot="0">
              <a:off x="0" y="0"/>
              <a:ext cx="5541430" cy="812800"/>
            </a:xfrm>
            <a:custGeom>
              <a:avLst/>
              <a:gdLst/>
              <a:ahLst/>
              <a:cxnLst/>
              <a:rect r="r" b="b" t="t" l="l"/>
              <a:pathLst>
                <a:path h="812800" w="5541430">
                  <a:moveTo>
                    <a:pt x="0" y="0"/>
                  </a:moveTo>
                  <a:lnTo>
                    <a:pt x="5541430" y="0"/>
                  </a:lnTo>
                  <a:lnTo>
                    <a:pt x="5541430" y="812800"/>
                  </a:lnTo>
                  <a:lnTo>
                    <a:pt x="0" y="812800"/>
                  </a:lnTo>
                  <a:close/>
                </a:path>
              </a:pathLst>
            </a:custGeom>
            <a:solidFill>
              <a:srgbClr val="DAFFFB"/>
            </a:solidFill>
          </p:spPr>
        </p:sp>
        <p:sp>
          <p:nvSpPr>
            <p:cNvPr name="TextBox 10" id="10"/>
            <p:cNvSpPr txBox="true"/>
            <p:nvPr/>
          </p:nvSpPr>
          <p:spPr>
            <a:xfrm>
              <a:off x="0" y="-38100"/>
              <a:ext cx="5541430" cy="850900"/>
            </a:xfrm>
            <a:prstGeom prst="rect">
              <a:avLst/>
            </a:prstGeom>
          </p:spPr>
          <p:txBody>
            <a:bodyPr anchor="ctr" rtlCol="false" tIns="50800" lIns="50800" bIns="50800" rIns="50800"/>
            <a:lstStyle/>
            <a:p>
              <a:pPr algn="ctr">
                <a:lnSpc>
                  <a:spcPts val="3462"/>
                </a:lnSpc>
              </a:pPr>
            </a:p>
          </p:txBody>
        </p:sp>
      </p:grpSp>
      <p:pic>
        <p:nvPicPr>
          <p:cNvPr name="Picture 11" id="11">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0" r="0" b="0"/>
          <a:stretch>
            <a:fillRect/>
          </a:stretch>
        </p:blipFill>
        <p:spPr>
          <a:xfrm flipH="false" flipV="false" rot="0">
            <a:off x="741518" y="3671965"/>
            <a:ext cx="6889458" cy="2943070"/>
          </a:xfrm>
          <a:prstGeom prst="rect">
            <a:avLst/>
          </a:prstGeom>
        </p:spPr>
      </p:pic>
      <p:sp>
        <p:nvSpPr>
          <p:cNvPr name="TextBox 12" id="12"/>
          <p:cNvSpPr txBox="true"/>
          <p:nvPr/>
        </p:nvSpPr>
        <p:spPr>
          <a:xfrm rot="0">
            <a:off x="8491486" y="2225515"/>
            <a:ext cx="3211328" cy="422275"/>
          </a:xfrm>
          <a:prstGeom prst="rect">
            <a:avLst/>
          </a:prstGeom>
        </p:spPr>
        <p:txBody>
          <a:bodyPr anchor="t" rtlCol="false" tIns="0" lIns="0" bIns="0" rIns="0">
            <a:spAutoFit/>
          </a:bodyPr>
          <a:lstStyle/>
          <a:p>
            <a:pPr algn="l">
              <a:lnSpc>
                <a:spcPts val="3499"/>
              </a:lnSpc>
            </a:pPr>
            <a:r>
              <a:rPr lang="en-US" sz="2499" b="true">
                <a:solidFill>
                  <a:srgbClr val="FFFFFF"/>
                </a:solidFill>
                <a:latin typeface="Canva Sans Bold"/>
                <a:ea typeface="Canva Sans Bold"/>
                <a:cs typeface="Canva Sans Bold"/>
                <a:sym typeface="Canva Sans Bold"/>
              </a:rPr>
              <a:t>Algorithm</a:t>
            </a:r>
          </a:p>
        </p:txBody>
      </p:sp>
      <p:sp>
        <p:nvSpPr>
          <p:cNvPr name="TextBox 13" id="13"/>
          <p:cNvSpPr txBox="true"/>
          <p:nvPr/>
        </p:nvSpPr>
        <p:spPr>
          <a:xfrm rot="0">
            <a:off x="8491486" y="2708963"/>
            <a:ext cx="8461553" cy="1620312"/>
          </a:xfrm>
          <a:prstGeom prst="rect">
            <a:avLst/>
          </a:prstGeom>
        </p:spPr>
        <p:txBody>
          <a:bodyPr anchor="t" rtlCol="false" tIns="0" lIns="0" bIns="0" rIns="0">
            <a:spAutoFit/>
          </a:bodyPr>
          <a:lstStyle/>
          <a:p>
            <a:pPr algn="l">
              <a:lnSpc>
                <a:spcPts val="3233"/>
              </a:lnSpc>
            </a:pPr>
            <a:r>
              <a:rPr lang="en-US" sz="2309">
                <a:solidFill>
                  <a:srgbClr val="FFFFFF"/>
                </a:solidFill>
                <a:latin typeface="Canva Sans"/>
                <a:ea typeface="Canva Sans"/>
                <a:cs typeface="Canva Sans"/>
                <a:sym typeface="Canva Sans"/>
              </a:rPr>
              <a:t>The code uses IDA* with a simple Manhattan distance heuristic to solve Taxi-v3 optimally.</a:t>
            </a:r>
          </a:p>
          <a:p>
            <a:pPr algn="l">
              <a:lnSpc>
                <a:spcPts val="3233"/>
              </a:lnSpc>
            </a:pPr>
            <a:r>
              <a:rPr lang="en-US" sz="2309">
                <a:solidFill>
                  <a:srgbClr val="FFFFFF"/>
                </a:solidFill>
                <a:latin typeface="Canva Sans"/>
                <a:ea typeface="Canva Sans"/>
                <a:cs typeface="Canva Sans"/>
                <a:sym typeface="Canva Sans"/>
              </a:rPr>
              <a:t> It performs depth-limited search iteratively, refining the bound until the goal is found.</a:t>
            </a:r>
          </a:p>
        </p:txBody>
      </p:sp>
      <p:grpSp>
        <p:nvGrpSpPr>
          <p:cNvPr name="Group 14" id="14"/>
          <p:cNvGrpSpPr/>
          <p:nvPr/>
        </p:nvGrpSpPr>
        <p:grpSpPr>
          <a:xfrm rot="0">
            <a:off x="8067866" y="5330825"/>
            <a:ext cx="9124043" cy="4131454"/>
            <a:chOff x="0" y="0"/>
            <a:chExt cx="12165391" cy="5508605"/>
          </a:xfrm>
        </p:grpSpPr>
        <p:grpSp>
          <p:nvGrpSpPr>
            <p:cNvPr name="Group 15" id="15"/>
            <p:cNvGrpSpPr/>
            <p:nvPr/>
          </p:nvGrpSpPr>
          <p:grpSpPr>
            <a:xfrm rot="0">
              <a:off x="0" y="0"/>
              <a:ext cx="12165391" cy="5508605"/>
              <a:chOff x="0" y="0"/>
              <a:chExt cx="2910122" cy="1317731"/>
            </a:xfrm>
          </p:grpSpPr>
          <p:sp>
            <p:nvSpPr>
              <p:cNvPr name="Freeform 16" id="16"/>
              <p:cNvSpPr/>
              <p:nvPr/>
            </p:nvSpPr>
            <p:spPr>
              <a:xfrm flipH="false" flipV="false" rot="0">
                <a:off x="0" y="0"/>
                <a:ext cx="2910122" cy="1317731"/>
              </a:xfrm>
              <a:custGeom>
                <a:avLst/>
                <a:gdLst/>
                <a:ahLst/>
                <a:cxnLst/>
                <a:rect r="r" b="b" t="t" l="l"/>
                <a:pathLst>
                  <a:path h="1317731" w="2910122">
                    <a:moveTo>
                      <a:pt x="43274" y="0"/>
                    </a:moveTo>
                    <a:lnTo>
                      <a:pt x="2866847" y="0"/>
                    </a:lnTo>
                    <a:cubicBezTo>
                      <a:pt x="2890747" y="0"/>
                      <a:pt x="2910122" y="19375"/>
                      <a:pt x="2910122" y="43274"/>
                    </a:cubicBezTo>
                    <a:lnTo>
                      <a:pt x="2910122" y="1274457"/>
                    </a:lnTo>
                    <a:cubicBezTo>
                      <a:pt x="2910122" y="1298356"/>
                      <a:pt x="2890747" y="1317731"/>
                      <a:pt x="2866847" y="1317731"/>
                    </a:cubicBezTo>
                    <a:lnTo>
                      <a:pt x="43274" y="1317731"/>
                    </a:lnTo>
                    <a:cubicBezTo>
                      <a:pt x="19375" y="1317731"/>
                      <a:pt x="0" y="1298356"/>
                      <a:pt x="0" y="1274457"/>
                    </a:cubicBezTo>
                    <a:lnTo>
                      <a:pt x="0" y="43274"/>
                    </a:lnTo>
                    <a:cubicBezTo>
                      <a:pt x="0" y="19375"/>
                      <a:pt x="19375" y="0"/>
                      <a:pt x="43274" y="0"/>
                    </a:cubicBezTo>
                    <a:close/>
                  </a:path>
                </a:pathLst>
              </a:custGeom>
              <a:solidFill>
                <a:srgbClr val="000000">
                  <a:alpha val="0"/>
                </a:srgbClr>
              </a:solidFill>
              <a:ln w="19050" cap="rnd">
                <a:solidFill>
                  <a:srgbClr val="FFFFFF"/>
                </a:solidFill>
                <a:prstDash val="solid"/>
                <a:round/>
              </a:ln>
            </p:spPr>
          </p:sp>
          <p:sp>
            <p:nvSpPr>
              <p:cNvPr name="TextBox 17" id="17"/>
              <p:cNvSpPr txBox="true"/>
              <p:nvPr/>
            </p:nvSpPr>
            <p:spPr>
              <a:xfrm>
                <a:off x="0" y="-47625"/>
                <a:ext cx="2910122" cy="1365356"/>
              </a:xfrm>
              <a:prstGeom prst="rect">
                <a:avLst/>
              </a:prstGeom>
            </p:spPr>
            <p:txBody>
              <a:bodyPr anchor="ctr" rtlCol="false" tIns="50800" lIns="50800" bIns="50800" rIns="50800"/>
              <a:lstStyle/>
              <a:p>
                <a:pPr algn="ctr">
                  <a:lnSpc>
                    <a:spcPts val="3669"/>
                  </a:lnSpc>
                </a:pPr>
              </a:p>
            </p:txBody>
          </p:sp>
        </p:grpSp>
        <p:sp>
          <p:nvSpPr>
            <p:cNvPr name="TextBox 18" id="18"/>
            <p:cNvSpPr txBox="true"/>
            <p:nvPr/>
          </p:nvSpPr>
          <p:spPr>
            <a:xfrm rot="0">
              <a:off x="564826" y="311224"/>
              <a:ext cx="4037928" cy="547158"/>
            </a:xfrm>
            <a:prstGeom prst="rect">
              <a:avLst/>
            </a:prstGeom>
          </p:spPr>
          <p:txBody>
            <a:bodyPr anchor="t" rtlCol="false" tIns="0" lIns="0" bIns="0" rIns="0">
              <a:spAutoFit/>
            </a:bodyPr>
            <a:lstStyle/>
            <a:p>
              <a:pPr algn="l">
                <a:lnSpc>
                  <a:spcPts val="3499"/>
                </a:lnSpc>
              </a:pPr>
              <a:r>
                <a:rPr lang="en-US" sz="2499" b="true">
                  <a:solidFill>
                    <a:srgbClr val="FFFFFF"/>
                  </a:solidFill>
                  <a:latin typeface="Canva Sans Bold"/>
                  <a:ea typeface="Canva Sans Bold"/>
                  <a:cs typeface="Canva Sans Bold"/>
                  <a:sym typeface="Canva Sans Bold"/>
                </a:rPr>
                <a:t>Heuristic F</a:t>
              </a:r>
              <a:r>
                <a:rPr lang="en-US" sz="2499" b="true">
                  <a:solidFill>
                    <a:srgbClr val="FFFFFF"/>
                  </a:solidFill>
                  <a:latin typeface="Canva Sans Bold"/>
                  <a:ea typeface="Canva Sans Bold"/>
                  <a:cs typeface="Canva Sans Bold"/>
                  <a:sym typeface="Canva Sans Bold"/>
                </a:rPr>
                <a:t>unction</a:t>
              </a:r>
            </a:p>
          </p:txBody>
        </p:sp>
        <p:sp>
          <p:nvSpPr>
            <p:cNvPr name="TextBox 19" id="19"/>
            <p:cNvSpPr txBox="true"/>
            <p:nvPr/>
          </p:nvSpPr>
          <p:spPr>
            <a:xfrm rot="0">
              <a:off x="564826" y="1286615"/>
              <a:ext cx="11282071" cy="3775901"/>
            </a:xfrm>
            <a:prstGeom prst="rect">
              <a:avLst/>
            </a:prstGeom>
          </p:spPr>
          <p:txBody>
            <a:bodyPr anchor="t" rtlCol="false" tIns="0" lIns="0" bIns="0" rIns="0">
              <a:spAutoFit/>
            </a:bodyPr>
            <a:lstStyle/>
            <a:p>
              <a:pPr algn="l">
                <a:lnSpc>
                  <a:spcPts val="3233"/>
                </a:lnSpc>
              </a:pPr>
              <a:r>
                <a:rPr lang="en-US" sz="2309">
                  <a:solidFill>
                    <a:srgbClr val="FFFFFF"/>
                  </a:solidFill>
                  <a:latin typeface="Canva Sans"/>
                  <a:ea typeface="Canva Sans"/>
                  <a:cs typeface="Canva Sans"/>
                  <a:sym typeface="Canva Sans"/>
                </a:rPr>
                <a:t>The heuristic estimates the cost to the goal using Manhattan distance between the taxi's current position and the destination.</a:t>
              </a:r>
            </a:p>
            <a:p>
              <a:pPr algn="l">
                <a:lnSpc>
                  <a:spcPts val="3233"/>
                </a:lnSpc>
              </a:pPr>
              <a:r>
                <a:rPr lang="en-US" sz="2309">
                  <a:solidFill>
                    <a:srgbClr val="FFFFFF"/>
                  </a:solidFill>
                  <a:latin typeface="Canva Sans"/>
                  <a:ea typeface="Canva Sans"/>
                  <a:cs typeface="Canva Sans"/>
                  <a:sym typeface="Canva Sans"/>
                </a:rPr>
                <a:t> It ignores walls, passenger status, and assumes direct movement, making it admissible but not always accurate.</a:t>
              </a:r>
            </a:p>
            <a:p>
              <a:pPr algn="l">
                <a:lnSpc>
                  <a:spcPts val="3233"/>
                </a:lnSpc>
              </a:pPr>
              <a:r>
                <a:rPr lang="en-US" sz="2309">
                  <a:solidFill>
                    <a:srgbClr val="FFFFFF"/>
                  </a:solidFill>
                  <a:latin typeface="Canva Sans"/>
                  <a:ea typeface="Canva Sans"/>
                  <a:cs typeface="Canva Sans"/>
                  <a:sym typeface="Canva Sans"/>
                </a:rPr>
                <a:t> This helps guide the IDA* search toward the destination efficiently, without overestimating cost.</a:t>
              </a:r>
            </a:p>
          </p:txBody>
        </p:sp>
      </p:grpSp>
      <p:sp>
        <p:nvSpPr>
          <p:cNvPr name="TextBox 20" id="20"/>
          <p:cNvSpPr txBox="true"/>
          <p:nvPr/>
        </p:nvSpPr>
        <p:spPr>
          <a:xfrm rot="0">
            <a:off x="5281031" y="457200"/>
            <a:ext cx="7725938" cy="1028700"/>
          </a:xfrm>
          <a:prstGeom prst="rect">
            <a:avLst/>
          </a:prstGeom>
        </p:spPr>
        <p:txBody>
          <a:bodyPr anchor="t" rtlCol="false" tIns="0" lIns="0" bIns="0" rIns="0">
            <a:spAutoFit/>
          </a:bodyPr>
          <a:lstStyle/>
          <a:p>
            <a:pPr algn="ctr">
              <a:lnSpc>
                <a:spcPts val="8400"/>
              </a:lnSpc>
              <a:spcBef>
                <a:spcPct val="0"/>
              </a:spcBef>
            </a:pPr>
            <a:r>
              <a:rPr lang="en-US" b="true" sz="6000">
                <a:solidFill>
                  <a:srgbClr val="FFFFFF"/>
                </a:solidFill>
                <a:latin typeface="Canva Sans Bold"/>
                <a:ea typeface="Canva Sans Bold"/>
                <a:cs typeface="Canva Sans Bold"/>
                <a:sym typeface="Canva Sans Bold"/>
              </a:rPr>
              <a:t>IDA*</a:t>
            </a:r>
          </a:p>
        </p:txBody>
      </p:sp>
    </p:spTree>
  </p:cSld>
  <p:clrMapOvr>
    <a:masterClrMapping/>
  </p:clrMapOvr>
  <p:timing>
    <p:tnLst>
      <p:par>
        <p:cTn dur="indefinite" restart="never" nodeType="tmRoot">
          <p:childTnLst>
            <p:video>
              <p:cMediaNode vol="0">
                <p:cTn fill="hold" display="false">
                  <p:stCondLst>
                    <p:cond delay="indefinite"/>
                  </p:stCondLst>
                </p:cTn>
                <p:tgtEl>
                  <p:spTgt spid="11"/>
                </p:tgtEl>
              </p:cMediaNode>
            </p:video>
          </p:childTnLst>
        </p:cTn>
      </p:par>
    </p:tnLst>
  </p:timing>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90909"/>
        </a:solidFill>
      </p:bgPr>
    </p:bg>
    <p:spTree>
      <p:nvGrpSpPr>
        <p:cNvPr id="1" name=""/>
        <p:cNvGrpSpPr/>
        <p:nvPr/>
      </p:nvGrpSpPr>
      <p:grpSpPr>
        <a:xfrm>
          <a:off x="0" y="0"/>
          <a:ext cx="0" cy="0"/>
          <a:chOff x="0" y="0"/>
          <a:chExt cx="0" cy="0"/>
        </a:xfrm>
      </p:grpSpPr>
      <p:grpSp>
        <p:nvGrpSpPr>
          <p:cNvPr name="Group 2" id="2"/>
          <p:cNvGrpSpPr/>
          <p:nvPr/>
        </p:nvGrpSpPr>
        <p:grpSpPr>
          <a:xfrm rot="0">
            <a:off x="-386085" y="-159421"/>
            <a:ext cx="19060169" cy="10605843"/>
            <a:chOff x="0" y="0"/>
            <a:chExt cx="25413559" cy="14141124"/>
          </a:xfrm>
        </p:grpSpPr>
        <p:sp>
          <p:nvSpPr>
            <p:cNvPr name="Freeform 3" id="3"/>
            <p:cNvSpPr/>
            <p:nvPr/>
          </p:nvSpPr>
          <p:spPr>
            <a:xfrm flipH="false" flipV="false" rot="0">
              <a:off x="0" y="0"/>
              <a:ext cx="14141124" cy="14141124"/>
            </a:xfrm>
            <a:custGeom>
              <a:avLst/>
              <a:gdLst/>
              <a:ahLst/>
              <a:cxnLst/>
              <a:rect r="r" b="b" t="t" l="l"/>
              <a:pathLst>
                <a:path h="14141124" w="14141124">
                  <a:moveTo>
                    <a:pt x="0" y="0"/>
                  </a:moveTo>
                  <a:lnTo>
                    <a:pt x="14141124" y="0"/>
                  </a:lnTo>
                  <a:lnTo>
                    <a:pt x="14141124" y="14141124"/>
                  </a:lnTo>
                  <a:lnTo>
                    <a:pt x="0" y="14141124"/>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272435" y="0"/>
              <a:ext cx="14141124" cy="14141124"/>
            </a:xfrm>
            <a:custGeom>
              <a:avLst/>
              <a:gdLst/>
              <a:ahLst/>
              <a:cxnLst/>
              <a:rect r="r" b="b" t="t" l="l"/>
              <a:pathLst>
                <a:path h="14141124" w="14141124">
                  <a:moveTo>
                    <a:pt x="0" y="0"/>
                  </a:moveTo>
                  <a:lnTo>
                    <a:pt x="14141124" y="0"/>
                  </a:lnTo>
                  <a:lnTo>
                    <a:pt x="14141124" y="14141124"/>
                  </a:lnTo>
                  <a:lnTo>
                    <a:pt x="0" y="14141124"/>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514350" y="9883238"/>
            <a:ext cx="21040117" cy="3086100"/>
            <a:chOff x="0" y="0"/>
            <a:chExt cx="5541430" cy="812800"/>
          </a:xfrm>
        </p:grpSpPr>
        <p:sp>
          <p:nvSpPr>
            <p:cNvPr name="Freeform 6" id="6"/>
            <p:cNvSpPr/>
            <p:nvPr/>
          </p:nvSpPr>
          <p:spPr>
            <a:xfrm flipH="false" flipV="false" rot="0">
              <a:off x="0" y="0"/>
              <a:ext cx="5541430" cy="812800"/>
            </a:xfrm>
            <a:custGeom>
              <a:avLst/>
              <a:gdLst/>
              <a:ahLst/>
              <a:cxnLst/>
              <a:rect r="r" b="b" t="t" l="l"/>
              <a:pathLst>
                <a:path h="812800" w="5541430">
                  <a:moveTo>
                    <a:pt x="0" y="0"/>
                  </a:moveTo>
                  <a:lnTo>
                    <a:pt x="5541430" y="0"/>
                  </a:lnTo>
                  <a:lnTo>
                    <a:pt x="5541430" y="812800"/>
                  </a:lnTo>
                  <a:lnTo>
                    <a:pt x="0" y="812800"/>
                  </a:lnTo>
                  <a:close/>
                </a:path>
              </a:pathLst>
            </a:custGeom>
            <a:solidFill>
              <a:srgbClr val="DAFFFB"/>
            </a:solidFill>
          </p:spPr>
        </p:sp>
        <p:sp>
          <p:nvSpPr>
            <p:cNvPr name="TextBox 7" id="7"/>
            <p:cNvSpPr txBox="true"/>
            <p:nvPr/>
          </p:nvSpPr>
          <p:spPr>
            <a:xfrm>
              <a:off x="0" y="-38100"/>
              <a:ext cx="5541430" cy="850900"/>
            </a:xfrm>
            <a:prstGeom prst="rect">
              <a:avLst/>
            </a:prstGeom>
          </p:spPr>
          <p:txBody>
            <a:bodyPr anchor="ctr" rtlCol="false" tIns="50800" lIns="50800" bIns="50800" rIns="50800"/>
            <a:lstStyle/>
            <a:p>
              <a:pPr algn="ctr">
                <a:lnSpc>
                  <a:spcPts val="3462"/>
                </a:lnSpc>
              </a:pPr>
            </a:p>
          </p:txBody>
        </p:sp>
      </p:grpSp>
      <p:pic>
        <p:nvPicPr>
          <p:cNvPr name="Picture 8" id="8">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3789" t="0" r="212" b="0"/>
          <a:stretch>
            <a:fillRect/>
          </a:stretch>
        </p:blipFill>
        <p:spPr>
          <a:xfrm flipH="false" flipV="false" rot="0">
            <a:off x="10215037" y="3149070"/>
            <a:ext cx="7450911" cy="3492674"/>
          </a:xfrm>
          <a:prstGeom prst="rect">
            <a:avLst/>
          </a:prstGeom>
        </p:spPr>
      </p:pic>
      <p:sp>
        <p:nvSpPr>
          <p:cNvPr name="TextBox 9" id="9"/>
          <p:cNvSpPr txBox="true"/>
          <p:nvPr/>
        </p:nvSpPr>
        <p:spPr>
          <a:xfrm rot="0">
            <a:off x="1028700" y="457200"/>
            <a:ext cx="7725938" cy="1028700"/>
          </a:xfrm>
          <a:prstGeom prst="rect">
            <a:avLst/>
          </a:prstGeom>
        </p:spPr>
        <p:txBody>
          <a:bodyPr anchor="t" rtlCol="false" tIns="0" lIns="0" bIns="0" rIns="0">
            <a:spAutoFit/>
          </a:bodyPr>
          <a:lstStyle/>
          <a:p>
            <a:pPr algn="ctr">
              <a:lnSpc>
                <a:spcPts val="8400"/>
              </a:lnSpc>
              <a:spcBef>
                <a:spcPct val="0"/>
              </a:spcBef>
            </a:pPr>
            <a:r>
              <a:rPr lang="en-US" b="true" sz="6000">
                <a:solidFill>
                  <a:srgbClr val="FFFFFF"/>
                </a:solidFill>
                <a:latin typeface="Canva Sans Bold"/>
                <a:ea typeface="Canva Sans Bold"/>
                <a:cs typeface="Canva Sans Bold"/>
                <a:sym typeface="Canva Sans Bold"/>
              </a:rPr>
              <a:t>Hill Climbing</a:t>
            </a:r>
          </a:p>
        </p:txBody>
      </p:sp>
      <p:grpSp>
        <p:nvGrpSpPr>
          <p:cNvPr name="Group 10" id="10"/>
          <p:cNvGrpSpPr/>
          <p:nvPr/>
        </p:nvGrpSpPr>
        <p:grpSpPr>
          <a:xfrm rot="0">
            <a:off x="353625" y="2009360"/>
            <a:ext cx="9382913" cy="5371156"/>
            <a:chOff x="0" y="0"/>
            <a:chExt cx="12510550" cy="7161541"/>
          </a:xfrm>
        </p:grpSpPr>
        <p:grpSp>
          <p:nvGrpSpPr>
            <p:cNvPr name="Group 11" id="11"/>
            <p:cNvGrpSpPr/>
            <p:nvPr/>
          </p:nvGrpSpPr>
          <p:grpSpPr>
            <a:xfrm rot="0">
              <a:off x="0" y="0"/>
              <a:ext cx="12510550" cy="7161541"/>
              <a:chOff x="0" y="0"/>
              <a:chExt cx="2992689" cy="1713135"/>
            </a:xfrm>
          </p:grpSpPr>
          <p:sp>
            <p:nvSpPr>
              <p:cNvPr name="Freeform 12" id="12"/>
              <p:cNvSpPr/>
              <p:nvPr/>
            </p:nvSpPr>
            <p:spPr>
              <a:xfrm flipH="false" flipV="false" rot="0">
                <a:off x="0" y="0"/>
                <a:ext cx="2992689" cy="1713135"/>
              </a:xfrm>
              <a:custGeom>
                <a:avLst/>
                <a:gdLst/>
                <a:ahLst/>
                <a:cxnLst/>
                <a:rect r="r" b="b" t="t" l="l"/>
                <a:pathLst>
                  <a:path h="1713135" w="2992689">
                    <a:moveTo>
                      <a:pt x="42081" y="0"/>
                    </a:moveTo>
                    <a:lnTo>
                      <a:pt x="2950608" y="0"/>
                    </a:lnTo>
                    <a:cubicBezTo>
                      <a:pt x="2961769" y="0"/>
                      <a:pt x="2972472" y="4433"/>
                      <a:pt x="2980364" y="12325"/>
                    </a:cubicBezTo>
                    <a:cubicBezTo>
                      <a:pt x="2988255" y="20217"/>
                      <a:pt x="2992689" y="30920"/>
                      <a:pt x="2992689" y="42081"/>
                    </a:cubicBezTo>
                    <a:lnTo>
                      <a:pt x="2992689" y="1671055"/>
                    </a:lnTo>
                    <a:cubicBezTo>
                      <a:pt x="2992689" y="1682215"/>
                      <a:pt x="2988255" y="1692918"/>
                      <a:pt x="2980364" y="1700810"/>
                    </a:cubicBezTo>
                    <a:cubicBezTo>
                      <a:pt x="2972472" y="1708702"/>
                      <a:pt x="2961769" y="1713135"/>
                      <a:pt x="2950608" y="1713135"/>
                    </a:cubicBezTo>
                    <a:lnTo>
                      <a:pt x="42081" y="1713135"/>
                    </a:lnTo>
                    <a:cubicBezTo>
                      <a:pt x="30920" y="1713135"/>
                      <a:pt x="20217" y="1708702"/>
                      <a:pt x="12325" y="1700810"/>
                    </a:cubicBezTo>
                    <a:cubicBezTo>
                      <a:pt x="4433" y="1692918"/>
                      <a:pt x="0" y="1682215"/>
                      <a:pt x="0" y="1671055"/>
                    </a:cubicBezTo>
                    <a:lnTo>
                      <a:pt x="0" y="42081"/>
                    </a:lnTo>
                    <a:cubicBezTo>
                      <a:pt x="0" y="30920"/>
                      <a:pt x="4433" y="20217"/>
                      <a:pt x="12325" y="12325"/>
                    </a:cubicBezTo>
                    <a:cubicBezTo>
                      <a:pt x="20217" y="4433"/>
                      <a:pt x="30920" y="0"/>
                      <a:pt x="42081" y="0"/>
                    </a:cubicBezTo>
                    <a:close/>
                  </a:path>
                </a:pathLst>
              </a:custGeom>
              <a:solidFill>
                <a:srgbClr val="000000">
                  <a:alpha val="0"/>
                </a:srgbClr>
              </a:solidFill>
              <a:ln w="19050" cap="rnd">
                <a:solidFill>
                  <a:srgbClr val="FFFFFF"/>
                </a:solidFill>
                <a:prstDash val="solid"/>
                <a:round/>
              </a:ln>
            </p:spPr>
          </p:sp>
          <p:sp>
            <p:nvSpPr>
              <p:cNvPr name="TextBox 13" id="13"/>
              <p:cNvSpPr txBox="true"/>
              <p:nvPr/>
            </p:nvSpPr>
            <p:spPr>
              <a:xfrm>
                <a:off x="0" y="-47625"/>
                <a:ext cx="2992689" cy="1760760"/>
              </a:xfrm>
              <a:prstGeom prst="rect">
                <a:avLst/>
              </a:prstGeom>
            </p:spPr>
            <p:txBody>
              <a:bodyPr anchor="ctr" rtlCol="false" tIns="50800" lIns="50800" bIns="50800" rIns="50800"/>
              <a:lstStyle/>
              <a:p>
                <a:pPr algn="ctr">
                  <a:lnSpc>
                    <a:spcPts val="3669"/>
                  </a:lnSpc>
                </a:pPr>
              </a:p>
            </p:txBody>
          </p:sp>
        </p:grpSp>
        <p:sp>
          <p:nvSpPr>
            <p:cNvPr name="TextBox 14" id="14"/>
            <p:cNvSpPr txBox="true"/>
            <p:nvPr/>
          </p:nvSpPr>
          <p:spPr>
            <a:xfrm rot="0">
              <a:off x="476721" y="1446117"/>
              <a:ext cx="11750029" cy="2732736"/>
            </a:xfrm>
            <a:prstGeom prst="rect">
              <a:avLst/>
            </a:prstGeom>
          </p:spPr>
          <p:txBody>
            <a:bodyPr anchor="t" rtlCol="false" tIns="0" lIns="0" bIns="0" rIns="0">
              <a:spAutoFit/>
            </a:bodyPr>
            <a:lstStyle/>
            <a:p>
              <a:pPr algn="l">
                <a:lnSpc>
                  <a:spcPts val="2726"/>
                </a:lnSpc>
              </a:pPr>
              <a:r>
                <a:rPr lang="en-US" sz="1947">
                  <a:solidFill>
                    <a:srgbClr val="FFFFFF"/>
                  </a:solidFill>
                  <a:latin typeface="Canva Sans"/>
                  <a:ea typeface="Canva Sans"/>
                  <a:cs typeface="Canva Sans"/>
                  <a:sym typeface="Canva Sans"/>
                </a:rPr>
                <a:t>The heuristic used is the total route distance, calculated by summing the distances between consecutive cities and returning to the start. It directly represents the cost function in the TSP, guiding the hill climbing to minimize the overall tour length. This cost-based heuristic is simple, effective for local improvement, but doesn’t guarantee a global optimum.</a:t>
              </a:r>
            </a:p>
            <a:p>
              <a:pPr algn="l">
                <a:lnSpc>
                  <a:spcPts val="2726"/>
                </a:lnSpc>
              </a:pPr>
            </a:p>
          </p:txBody>
        </p:sp>
        <p:sp>
          <p:nvSpPr>
            <p:cNvPr name="TextBox 15" id="15"/>
            <p:cNvSpPr txBox="true"/>
            <p:nvPr/>
          </p:nvSpPr>
          <p:spPr>
            <a:xfrm rot="0">
              <a:off x="476721" y="555448"/>
              <a:ext cx="4471298" cy="547158"/>
            </a:xfrm>
            <a:prstGeom prst="rect">
              <a:avLst/>
            </a:prstGeom>
          </p:spPr>
          <p:txBody>
            <a:bodyPr anchor="t" rtlCol="false" tIns="0" lIns="0" bIns="0" rIns="0">
              <a:spAutoFit/>
            </a:bodyPr>
            <a:lstStyle/>
            <a:p>
              <a:pPr algn="l">
                <a:lnSpc>
                  <a:spcPts val="3499"/>
                </a:lnSpc>
              </a:pPr>
              <a:r>
                <a:rPr lang="en-US" sz="2499" b="true">
                  <a:solidFill>
                    <a:srgbClr val="FFFFFF"/>
                  </a:solidFill>
                  <a:latin typeface="Canva Sans Bold"/>
                  <a:ea typeface="Canva Sans Bold"/>
                  <a:cs typeface="Canva Sans Bold"/>
                  <a:sym typeface="Canva Sans Bold"/>
                </a:rPr>
                <a:t>Heuristic F</a:t>
              </a:r>
              <a:r>
                <a:rPr lang="en-US" sz="2499" b="true">
                  <a:solidFill>
                    <a:srgbClr val="FFFFFF"/>
                  </a:solidFill>
                  <a:latin typeface="Canva Sans Bold"/>
                  <a:ea typeface="Canva Sans Bold"/>
                  <a:cs typeface="Canva Sans Bold"/>
                  <a:sym typeface="Canva Sans Bold"/>
                </a:rPr>
                <a:t>unction</a:t>
              </a:r>
            </a:p>
          </p:txBody>
        </p:sp>
        <p:sp>
          <p:nvSpPr>
            <p:cNvPr name="TextBox 16" id="16"/>
            <p:cNvSpPr txBox="true"/>
            <p:nvPr/>
          </p:nvSpPr>
          <p:spPr>
            <a:xfrm rot="0">
              <a:off x="476721" y="4131228"/>
              <a:ext cx="3713728" cy="547158"/>
            </a:xfrm>
            <a:prstGeom prst="rect">
              <a:avLst/>
            </a:prstGeom>
          </p:spPr>
          <p:txBody>
            <a:bodyPr anchor="t" rtlCol="false" tIns="0" lIns="0" bIns="0" rIns="0">
              <a:spAutoFit/>
            </a:bodyPr>
            <a:lstStyle/>
            <a:p>
              <a:pPr algn="l">
                <a:lnSpc>
                  <a:spcPts val="3499"/>
                </a:lnSpc>
              </a:pPr>
              <a:r>
                <a:rPr lang="en-US" sz="2499" b="true">
                  <a:solidFill>
                    <a:srgbClr val="FFFFFF"/>
                  </a:solidFill>
                  <a:latin typeface="Canva Sans Bold"/>
                  <a:ea typeface="Canva Sans Bold"/>
                  <a:cs typeface="Canva Sans Bold"/>
                  <a:sym typeface="Canva Sans Bold"/>
                </a:rPr>
                <a:t>Algorithm</a:t>
              </a:r>
            </a:p>
          </p:txBody>
        </p:sp>
        <p:sp>
          <p:nvSpPr>
            <p:cNvPr name="TextBox 17" id="17"/>
            <p:cNvSpPr txBox="true"/>
            <p:nvPr/>
          </p:nvSpPr>
          <p:spPr>
            <a:xfrm rot="0">
              <a:off x="476721" y="5100150"/>
              <a:ext cx="11750029" cy="1353185"/>
            </a:xfrm>
            <a:prstGeom prst="rect">
              <a:avLst/>
            </a:prstGeom>
          </p:spPr>
          <p:txBody>
            <a:bodyPr anchor="t" rtlCol="false" tIns="0" lIns="0" bIns="0" rIns="0">
              <a:spAutoFit/>
            </a:bodyPr>
            <a:lstStyle/>
            <a:p>
              <a:pPr algn="l">
                <a:lnSpc>
                  <a:spcPts val="2729"/>
                </a:lnSpc>
                <a:spcBef>
                  <a:spcPct val="0"/>
                </a:spcBef>
              </a:pPr>
              <a:r>
                <a:rPr lang="en-US" sz="1950">
                  <a:solidFill>
                    <a:srgbClr val="FFFFFF"/>
                  </a:solidFill>
                  <a:latin typeface="Canva Sans"/>
                  <a:ea typeface="Canva Sans"/>
                  <a:cs typeface="Canva Sans"/>
                  <a:sym typeface="Canva Sans"/>
                </a:rPr>
                <a:t>The hill climbing alg</a:t>
              </a:r>
              <a:r>
                <a:rPr lang="en-US" sz="1950">
                  <a:solidFill>
                    <a:srgbClr val="FFFFFF"/>
                  </a:solidFill>
                  <a:latin typeface="Canva Sans"/>
                  <a:ea typeface="Canva Sans"/>
                  <a:cs typeface="Canva Sans"/>
                  <a:sym typeface="Canva Sans"/>
                </a:rPr>
                <a:t>orithm uses route distance as a heuristic to iteratively improve a TSP solution. It’s efficient for small problems but may converge to local minima without escape strategies.</a:t>
              </a:r>
            </a:p>
          </p:txBody>
        </p:sp>
      </p:grpSp>
    </p:spTree>
  </p:cSld>
  <p:clrMapOvr>
    <a:masterClrMapping/>
  </p:clrMapOvr>
  <p:timing>
    <p:tnLst>
      <p:par>
        <p:cTn dur="indefinite" restart="never" nodeType="tmRoot">
          <p:childTnLst>
            <p:video>
              <p:cMediaNode vol="0">
                <p:cTn fill="hold" display="false">
                  <p:stCondLst>
                    <p:cond delay="indefinite"/>
                  </p:stCondLst>
                </p:cTn>
                <p:tgtEl>
                  <p:spTgt spid="8"/>
                </p:tgtEl>
              </p:cMediaNode>
            </p:video>
          </p:childTnLst>
        </p:cTn>
      </p:par>
    </p:tnLst>
  </p:timing>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90909"/>
        </a:solidFill>
      </p:bgPr>
    </p:bg>
    <p:spTree>
      <p:nvGrpSpPr>
        <p:cNvPr id="1" name=""/>
        <p:cNvGrpSpPr/>
        <p:nvPr/>
      </p:nvGrpSpPr>
      <p:grpSpPr>
        <a:xfrm>
          <a:off x="0" y="0"/>
          <a:ext cx="0" cy="0"/>
          <a:chOff x="0" y="0"/>
          <a:chExt cx="0" cy="0"/>
        </a:xfrm>
      </p:grpSpPr>
      <p:grpSp>
        <p:nvGrpSpPr>
          <p:cNvPr name="Group 2" id="2"/>
          <p:cNvGrpSpPr/>
          <p:nvPr/>
        </p:nvGrpSpPr>
        <p:grpSpPr>
          <a:xfrm rot="0">
            <a:off x="-386085" y="-159421"/>
            <a:ext cx="19060169" cy="10605843"/>
            <a:chOff x="0" y="0"/>
            <a:chExt cx="25413559" cy="14141124"/>
          </a:xfrm>
        </p:grpSpPr>
        <p:sp>
          <p:nvSpPr>
            <p:cNvPr name="Freeform 3" id="3"/>
            <p:cNvSpPr/>
            <p:nvPr/>
          </p:nvSpPr>
          <p:spPr>
            <a:xfrm flipH="false" flipV="false" rot="0">
              <a:off x="0" y="0"/>
              <a:ext cx="14141124" cy="14141124"/>
            </a:xfrm>
            <a:custGeom>
              <a:avLst/>
              <a:gdLst/>
              <a:ahLst/>
              <a:cxnLst/>
              <a:rect r="r" b="b" t="t" l="l"/>
              <a:pathLst>
                <a:path h="14141124" w="14141124">
                  <a:moveTo>
                    <a:pt x="0" y="0"/>
                  </a:moveTo>
                  <a:lnTo>
                    <a:pt x="14141124" y="0"/>
                  </a:lnTo>
                  <a:lnTo>
                    <a:pt x="14141124" y="14141124"/>
                  </a:lnTo>
                  <a:lnTo>
                    <a:pt x="0" y="14141124"/>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272435" y="0"/>
              <a:ext cx="14141124" cy="14141124"/>
            </a:xfrm>
            <a:custGeom>
              <a:avLst/>
              <a:gdLst/>
              <a:ahLst/>
              <a:cxnLst/>
              <a:rect r="r" b="b" t="t" l="l"/>
              <a:pathLst>
                <a:path h="14141124" w="14141124">
                  <a:moveTo>
                    <a:pt x="0" y="0"/>
                  </a:moveTo>
                  <a:lnTo>
                    <a:pt x="14141124" y="0"/>
                  </a:lnTo>
                  <a:lnTo>
                    <a:pt x="14141124" y="14141124"/>
                  </a:lnTo>
                  <a:lnTo>
                    <a:pt x="0" y="14141124"/>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028700" y="2139329"/>
            <a:ext cx="8115300" cy="3976661"/>
            <a:chOff x="0" y="0"/>
            <a:chExt cx="2588382" cy="1268360"/>
          </a:xfrm>
        </p:grpSpPr>
        <p:sp>
          <p:nvSpPr>
            <p:cNvPr name="Freeform 6" id="6"/>
            <p:cNvSpPr/>
            <p:nvPr/>
          </p:nvSpPr>
          <p:spPr>
            <a:xfrm flipH="false" flipV="false" rot="0">
              <a:off x="0" y="0"/>
              <a:ext cx="2588383" cy="1268360"/>
            </a:xfrm>
            <a:custGeom>
              <a:avLst/>
              <a:gdLst/>
              <a:ahLst/>
              <a:cxnLst/>
              <a:rect r="r" b="b" t="t" l="l"/>
              <a:pathLst>
                <a:path h="1268360" w="2588383">
                  <a:moveTo>
                    <a:pt x="48654" y="0"/>
                  </a:moveTo>
                  <a:lnTo>
                    <a:pt x="2539729" y="0"/>
                  </a:lnTo>
                  <a:cubicBezTo>
                    <a:pt x="2566600" y="0"/>
                    <a:pt x="2588383" y="21783"/>
                    <a:pt x="2588383" y="48654"/>
                  </a:cubicBezTo>
                  <a:lnTo>
                    <a:pt x="2588383" y="1219706"/>
                  </a:lnTo>
                  <a:cubicBezTo>
                    <a:pt x="2588383" y="1246577"/>
                    <a:pt x="2566600" y="1268360"/>
                    <a:pt x="2539729" y="1268360"/>
                  </a:cubicBezTo>
                  <a:lnTo>
                    <a:pt x="48654" y="1268360"/>
                  </a:lnTo>
                  <a:cubicBezTo>
                    <a:pt x="21783" y="1268360"/>
                    <a:pt x="0" y="1246577"/>
                    <a:pt x="0" y="1219706"/>
                  </a:cubicBezTo>
                  <a:lnTo>
                    <a:pt x="0" y="48654"/>
                  </a:lnTo>
                  <a:cubicBezTo>
                    <a:pt x="0" y="21783"/>
                    <a:pt x="21783" y="0"/>
                    <a:pt x="48654" y="0"/>
                  </a:cubicBezTo>
                  <a:close/>
                </a:path>
              </a:pathLst>
            </a:custGeom>
            <a:solidFill>
              <a:srgbClr val="000000">
                <a:alpha val="0"/>
              </a:srgbClr>
            </a:solidFill>
            <a:ln w="19050" cap="rnd">
              <a:solidFill>
                <a:srgbClr val="FFFFFF"/>
              </a:solidFill>
              <a:prstDash val="solid"/>
              <a:round/>
            </a:ln>
          </p:spPr>
        </p:sp>
        <p:sp>
          <p:nvSpPr>
            <p:cNvPr name="TextBox 7" id="7"/>
            <p:cNvSpPr txBox="true"/>
            <p:nvPr/>
          </p:nvSpPr>
          <p:spPr>
            <a:xfrm>
              <a:off x="0" y="-47625"/>
              <a:ext cx="2588382" cy="1315985"/>
            </a:xfrm>
            <a:prstGeom prst="rect">
              <a:avLst/>
            </a:prstGeom>
          </p:spPr>
          <p:txBody>
            <a:bodyPr anchor="ctr" rtlCol="false" tIns="50800" lIns="50800" bIns="50800" rIns="50800"/>
            <a:lstStyle/>
            <a:p>
              <a:pPr algn="ctr">
                <a:lnSpc>
                  <a:spcPts val="3669"/>
                </a:lnSpc>
              </a:pPr>
            </a:p>
          </p:txBody>
        </p:sp>
      </p:grpSp>
      <p:grpSp>
        <p:nvGrpSpPr>
          <p:cNvPr name="Group 8" id="8"/>
          <p:cNvGrpSpPr/>
          <p:nvPr/>
        </p:nvGrpSpPr>
        <p:grpSpPr>
          <a:xfrm rot="0">
            <a:off x="-514350" y="9883238"/>
            <a:ext cx="21040117" cy="3086100"/>
            <a:chOff x="0" y="0"/>
            <a:chExt cx="5541430" cy="812800"/>
          </a:xfrm>
        </p:grpSpPr>
        <p:sp>
          <p:nvSpPr>
            <p:cNvPr name="Freeform 9" id="9"/>
            <p:cNvSpPr/>
            <p:nvPr/>
          </p:nvSpPr>
          <p:spPr>
            <a:xfrm flipH="false" flipV="false" rot="0">
              <a:off x="0" y="0"/>
              <a:ext cx="5541430" cy="812800"/>
            </a:xfrm>
            <a:custGeom>
              <a:avLst/>
              <a:gdLst/>
              <a:ahLst/>
              <a:cxnLst/>
              <a:rect r="r" b="b" t="t" l="l"/>
              <a:pathLst>
                <a:path h="812800" w="5541430">
                  <a:moveTo>
                    <a:pt x="0" y="0"/>
                  </a:moveTo>
                  <a:lnTo>
                    <a:pt x="5541430" y="0"/>
                  </a:lnTo>
                  <a:lnTo>
                    <a:pt x="5541430" y="812800"/>
                  </a:lnTo>
                  <a:lnTo>
                    <a:pt x="0" y="812800"/>
                  </a:lnTo>
                  <a:close/>
                </a:path>
              </a:pathLst>
            </a:custGeom>
            <a:solidFill>
              <a:srgbClr val="DAFFFB"/>
            </a:solidFill>
          </p:spPr>
        </p:sp>
        <p:sp>
          <p:nvSpPr>
            <p:cNvPr name="TextBox 10" id="10"/>
            <p:cNvSpPr txBox="true"/>
            <p:nvPr/>
          </p:nvSpPr>
          <p:spPr>
            <a:xfrm>
              <a:off x="0" y="-38100"/>
              <a:ext cx="5541430" cy="850900"/>
            </a:xfrm>
            <a:prstGeom prst="rect">
              <a:avLst/>
            </a:prstGeom>
          </p:spPr>
          <p:txBody>
            <a:bodyPr anchor="ctr" rtlCol="false" tIns="50800" lIns="50800" bIns="50800" rIns="50800"/>
            <a:lstStyle/>
            <a:p>
              <a:pPr algn="ctr">
                <a:lnSpc>
                  <a:spcPts val="3462"/>
                </a:lnSpc>
              </a:pPr>
            </a:p>
          </p:txBody>
        </p:sp>
      </p:grpSp>
      <p:pic>
        <p:nvPicPr>
          <p:cNvPr name="Picture 11" id="11">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3314" r="0" b="3314"/>
          <a:stretch>
            <a:fillRect/>
          </a:stretch>
        </p:blipFill>
        <p:spPr>
          <a:xfrm flipH="false" flipV="false" rot="0">
            <a:off x="5281031" y="6515405"/>
            <a:ext cx="9873137" cy="2968418"/>
          </a:xfrm>
          <a:prstGeom prst="rect">
            <a:avLst/>
          </a:prstGeom>
        </p:spPr>
      </p:pic>
      <p:sp>
        <p:nvSpPr>
          <p:cNvPr name="TextBox 12" id="12"/>
          <p:cNvSpPr txBox="true"/>
          <p:nvPr/>
        </p:nvSpPr>
        <p:spPr>
          <a:xfrm rot="0">
            <a:off x="1499940" y="2325217"/>
            <a:ext cx="3273323" cy="394007"/>
          </a:xfrm>
          <a:prstGeom prst="rect">
            <a:avLst/>
          </a:prstGeom>
        </p:spPr>
        <p:txBody>
          <a:bodyPr anchor="t" rtlCol="false" tIns="0" lIns="0" bIns="0" rIns="0">
            <a:spAutoFit/>
          </a:bodyPr>
          <a:lstStyle/>
          <a:p>
            <a:pPr algn="l">
              <a:lnSpc>
                <a:spcPts val="3296"/>
              </a:lnSpc>
            </a:pPr>
            <a:r>
              <a:rPr lang="en-US" sz="2354" b="true">
                <a:solidFill>
                  <a:srgbClr val="FFFFFF"/>
                </a:solidFill>
                <a:latin typeface="Canva Sans Bold"/>
                <a:ea typeface="Canva Sans Bold"/>
                <a:cs typeface="Canva Sans Bold"/>
                <a:sym typeface="Canva Sans Bold"/>
              </a:rPr>
              <a:t>Heuristic Function</a:t>
            </a:r>
          </a:p>
        </p:txBody>
      </p:sp>
      <p:sp>
        <p:nvSpPr>
          <p:cNvPr name="TextBox 13" id="13"/>
          <p:cNvSpPr txBox="true"/>
          <p:nvPr/>
        </p:nvSpPr>
        <p:spPr>
          <a:xfrm rot="0">
            <a:off x="1499940" y="2858381"/>
            <a:ext cx="7383368" cy="2741295"/>
          </a:xfrm>
          <a:prstGeom prst="rect">
            <a:avLst/>
          </a:prstGeom>
        </p:spPr>
        <p:txBody>
          <a:bodyPr anchor="t" rtlCol="false" tIns="0" lIns="0" bIns="0" rIns="0">
            <a:spAutoFit/>
          </a:bodyPr>
          <a:lstStyle/>
          <a:p>
            <a:pPr algn="l">
              <a:lnSpc>
                <a:spcPts val="2729"/>
              </a:lnSpc>
            </a:pPr>
            <a:r>
              <a:rPr lang="en-US" sz="1950">
                <a:solidFill>
                  <a:srgbClr val="FFFFFF"/>
                </a:solidFill>
                <a:latin typeface="Canva Sans"/>
                <a:ea typeface="Canva Sans"/>
                <a:cs typeface="Canva Sans"/>
                <a:sym typeface="Canva Sans"/>
              </a:rPr>
              <a:t>The heuristic used is the total tour distance, summing the distances between consecutive cities in the current route and returning to the start.</a:t>
            </a:r>
          </a:p>
          <a:p>
            <a:pPr algn="l">
              <a:lnSpc>
                <a:spcPts val="2729"/>
              </a:lnSpc>
            </a:pPr>
            <a:r>
              <a:rPr lang="en-US" sz="1950">
                <a:solidFill>
                  <a:srgbClr val="FFFFFF"/>
                </a:solidFill>
                <a:latin typeface="Canva Sans"/>
                <a:ea typeface="Canva Sans"/>
                <a:cs typeface="Canva Sans"/>
                <a:sym typeface="Canva Sans"/>
              </a:rPr>
              <a:t> It serves as the cost function to minimize, guiding the search toward better solutions.</a:t>
            </a:r>
          </a:p>
          <a:p>
            <a:pPr algn="l">
              <a:lnSpc>
                <a:spcPts val="2729"/>
              </a:lnSpc>
            </a:pPr>
            <a:r>
              <a:rPr lang="en-US" sz="1950">
                <a:solidFill>
                  <a:srgbClr val="FFFFFF"/>
                </a:solidFill>
                <a:latin typeface="Canva Sans"/>
                <a:ea typeface="Canva Sans"/>
                <a:cs typeface="Canva Sans"/>
                <a:sym typeface="Canva Sans"/>
              </a:rPr>
              <a:t> The algorithm also uses a probabilistic acceptance of worse solutions based on temperature, allowing escape from local minima.</a:t>
            </a:r>
          </a:p>
        </p:txBody>
      </p:sp>
      <p:grpSp>
        <p:nvGrpSpPr>
          <p:cNvPr name="Group 14" id="14"/>
          <p:cNvGrpSpPr/>
          <p:nvPr/>
        </p:nvGrpSpPr>
        <p:grpSpPr>
          <a:xfrm rot="0">
            <a:off x="9536530" y="2139329"/>
            <a:ext cx="8115300" cy="2720688"/>
            <a:chOff x="0" y="0"/>
            <a:chExt cx="10820400" cy="3627584"/>
          </a:xfrm>
        </p:grpSpPr>
        <p:grpSp>
          <p:nvGrpSpPr>
            <p:cNvPr name="Group 15" id="15"/>
            <p:cNvGrpSpPr/>
            <p:nvPr/>
          </p:nvGrpSpPr>
          <p:grpSpPr>
            <a:xfrm rot="0">
              <a:off x="0" y="0"/>
              <a:ext cx="10820400" cy="3627584"/>
              <a:chOff x="0" y="0"/>
              <a:chExt cx="2588382" cy="867766"/>
            </a:xfrm>
          </p:grpSpPr>
          <p:sp>
            <p:nvSpPr>
              <p:cNvPr name="Freeform 16" id="16"/>
              <p:cNvSpPr/>
              <p:nvPr/>
            </p:nvSpPr>
            <p:spPr>
              <a:xfrm flipH="false" flipV="false" rot="0">
                <a:off x="0" y="0"/>
                <a:ext cx="2588383" cy="867766"/>
              </a:xfrm>
              <a:custGeom>
                <a:avLst/>
                <a:gdLst/>
                <a:ahLst/>
                <a:cxnLst/>
                <a:rect r="r" b="b" t="t" l="l"/>
                <a:pathLst>
                  <a:path h="867766" w="2588383">
                    <a:moveTo>
                      <a:pt x="48654" y="0"/>
                    </a:moveTo>
                    <a:lnTo>
                      <a:pt x="2539729" y="0"/>
                    </a:lnTo>
                    <a:cubicBezTo>
                      <a:pt x="2566600" y="0"/>
                      <a:pt x="2588383" y="21783"/>
                      <a:pt x="2588383" y="48654"/>
                    </a:cubicBezTo>
                    <a:lnTo>
                      <a:pt x="2588383" y="819112"/>
                    </a:lnTo>
                    <a:cubicBezTo>
                      <a:pt x="2588383" y="845983"/>
                      <a:pt x="2566600" y="867766"/>
                      <a:pt x="2539729" y="867766"/>
                    </a:cubicBezTo>
                    <a:lnTo>
                      <a:pt x="48654" y="867766"/>
                    </a:lnTo>
                    <a:cubicBezTo>
                      <a:pt x="21783" y="867766"/>
                      <a:pt x="0" y="845983"/>
                      <a:pt x="0" y="819112"/>
                    </a:cubicBezTo>
                    <a:lnTo>
                      <a:pt x="0" y="48654"/>
                    </a:lnTo>
                    <a:cubicBezTo>
                      <a:pt x="0" y="21783"/>
                      <a:pt x="21783" y="0"/>
                      <a:pt x="48654" y="0"/>
                    </a:cubicBezTo>
                    <a:close/>
                  </a:path>
                </a:pathLst>
              </a:custGeom>
              <a:solidFill>
                <a:srgbClr val="000000">
                  <a:alpha val="0"/>
                </a:srgbClr>
              </a:solidFill>
              <a:ln w="19050" cap="rnd">
                <a:solidFill>
                  <a:srgbClr val="FFFFFF"/>
                </a:solidFill>
                <a:prstDash val="solid"/>
                <a:round/>
              </a:ln>
            </p:spPr>
          </p:sp>
          <p:sp>
            <p:nvSpPr>
              <p:cNvPr name="TextBox 17" id="17"/>
              <p:cNvSpPr txBox="true"/>
              <p:nvPr/>
            </p:nvSpPr>
            <p:spPr>
              <a:xfrm>
                <a:off x="0" y="-47625"/>
                <a:ext cx="2588382" cy="915391"/>
              </a:xfrm>
              <a:prstGeom prst="rect">
                <a:avLst/>
              </a:prstGeom>
            </p:spPr>
            <p:txBody>
              <a:bodyPr anchor="ctr" rtlCol="false" tIns="50800" lIns="50800" bIns="50800" rIns="50800"/>
              <a:lstStyle/>
              <a:p>
                <a:pPr algn="ctr">
                  <a:lnSpc>
                    <a:spcPts val="3669"/>
                  </a:lnSpc>
                </a:pPr>
              </a:p>
            </p:txBody>
          </p:sp>
        </p:grpSp>
        <p:sp>
          <p:nvSpPr>
            <p:cNvPr name="TextBox 18" id="18"/>
            <p:cNvSpPr txBox="true"/>
            <p:nvPr/>
          </p:nvSpPr>
          <p:spPr>
            <a:xfrm rot="0">
              <a:off x="628320" y="396931"/>
              <a:ext cx="4364431" cy="512643"/>
            </a:xfrm>
            <a:prstGeom prst="rect">
              <a:avLst/>
            </a:prstGeom>
          </p:spPr>
          <p:txBody>
            <a:bodyPr anchor="t" rtlCol="false" tIns="0" lIns="0" bIns="0" rIns="0">
              <a:spAutoFit/>
            </a:bodyPr>
            <a:lstStyle/>
            <a:p>
              <a:pPr algn="l">
                <a:lnSpc>
                  <a:spcPts val="3296"/>
                </a:lnSpc>
              </a:pPr>
              <a:r>
                <a:rPr lang="en-US" sz="2354" b="true">
                  <a:solidFill>
                    <a:srgbClr val="FFFFFF"/>
                  </a:solidFill>
                  <a:latin typeface="Canva Sans Bold"/>
                  <a:ea typeface="Canva Sans Bold"/>
                  <a:cs typeface="Canva Sans Bold"/>
                  <a:sym typeface="Canva Sans Bold"/>
                </a:rPr>
                <a:t>Algorithm</a:t>
              </a:r>
            </a:p>
          </p:txBody>
        </p:sp>
        <p:sp>
          <p:nvSpPr>
            <p:cNvPr name="TextBox 19" id="19"/>
            <p:cNvSpPr txBox="true"/>
            <p:nvPr/>
          </p:nvSpPr>
          <p:spPr>
            <a:xfrm rot="0">
              <a:off x="628320" y="1195693"/>
              <a:ext cx="9525513" cy="1810385"/>
            </a:xfrm>
            <a:prstGeom prst="rect">
              <a:avLst/>
            </a:prstGeom>
          </p:spPr>
          <p:txBody>
            <a:bodyPr anchor="t" rtlCol="false" tIns="0" lIns="0" bIns="0" rIns="0">
              <a:spAutoFit/>
            </a:bodyPr>
            <a:lstStyle/>
            <a:p>
              <a:pPr algn="l">
                <a:lnSpc>
                  <a:spcPts val="2729"/>
                </a:lnSpc>
              </a:pPr>
              <a:r>
                <a:rPr lang="en-US" sz="1950">
                  <a:solidFill>
                    <a:srgbClr val="FFFFFF"/>
                  </a:solidFill>
                  <a:latin typeface="Canva Sans"/>
                  <a:ea typeface="Canva Sans"/>
                  <a:cs typeface="Canva Sans"/>
                  <a:sym typeface="Canva Sans"/>
                </a:rPr>
                <a:t>Simulated annealing minimizes TSP route cost using total distance as a heuristic and probabilistically accepts worse solutions early on. This helps it explore the search space better than hill climbing and find near-optimal solutions.</a:t>
              </a:r>
            </a:p>
          </p:txBody>
        </p:sp>
      </p:grpSp>
      <p:sp>
        <p:nvSpPr>
          <p:cNvPr name="TextBox 20" id="20"/>
          <p:cNvSpPr txBox="true"/>
          <p:nvPr/>
        </p:nvSpPr>
        <p:spPr>
          <a:xfrm rot="0">
            <a:off x="5281031" y="457200"/>
            <a:ext cx="7725938" cy="1028700"/>
          </a:xfrm>
          <a:prstGeom prst="rect">
            <a:avLst/>
          </a:prstGeom>
        </p:spPr>
        <p:txBody>
          <a:bodyPr anchor="t" rtlCol="false" tIns="0" lIns="0" bIns="0" rIns="0">
            <a:spAutoFit/>
          </a:bodyPr>
          <a:lstStyle/>
          <a:p>
            <a:pPr algn="ctr">
              <a:lnSpc>
                <a:spcPts val="8400"/>
              </a:lnSpc>
              <a:spcBef>
                <a:spcPct val="0"/>
              </a:spcBef>
            </a:pPr>
            <a:r>
              <a:rPr lang="en-US" b="true" sz="6000">
                <a:solidFill>
                  <a:srgbClr val="FFFFFF"/>
                </a:solidFill>
                <a:latin typeface="Canva Sans Bold"/>
                <a:ea typeface="Canva Sans Bold"/>
                <a:cs typeface="Canva Sans Bold"/>
                <a:sym typeface="Canva Sans Bold"/>
              </a:rPr>
              <a:t>Simulated Annealing</a:t>
            </a:r>
          </a:p>
        </p:txBody>
      </p:sp>
    </p:spTree>
  </p:cSld>
  <p:clrMapOvr>
    <a:masterClrMapping/>
  </p:clrMapOvr>
  <p:timing>
    <p:tnLst>
      <p:par>
        <p:cTn dur="indefinite" restart="never" nodeType="tmRoot">
          <p:childTnLst>
            <p:video>
              <p:cMediaNode vol="0">
                <p:cTn fill="hold" display="false">
                  <p:stCondLst>
                    <p:cond delay="indefinite"/>
                  </p:stCondLst>
                </p:cTn>
                <p:tgtEl>
                  <p:spTgt spid="11"/>
                </p:tgtEl>
              </p:cMediaNode>
            </p:video>
          </p:childTnLst>
        </p:cTn>
      </p:par>
    </p:tnLst>
  </p:timing>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90909"/>
        </a:solidFill>
      </p:bgPr>
    </p:bg>
    <p:spTree>
      <p:nvGrpSpPr>
        <p:cNvPr id="1" name=""/>
        <p:cNvGrpSpPr/>
        <p:nvPr/>
      </p:nvGrpSpPr>
      <p:grpSpPr>
        <a:xfrm>
          <a:off x="0" y="0"/>
          <a:ext cx="0" cy="0"/>
          <a:chOff x="0" y="0"/>
          <a:chExt cx="0" cy="0"/>
        </a:xfrm>
      </p:grpSpPr>
      <p:grpSp>
        <p:nvGrpSpPr>
          <p:cNvPr name="Group 2" id="2"/>
          <p:cNvGrpSpPr/>
          <p:nvPr/>
        </p:nvGrpSpPr>
        <p:grpSpPr>
          <a:xfrm rot="0">
            <a:off x="-386085" y="-159421"/>
            <a:ext cx="19060169" cy="10605843"/>
            <a:chOff x="0" y="0"/>
            <a:chExt cx="25413559" cy="14141124"/>
          </a:xfrm>
        </p:grpSpPr>
        <p:sp>
          <p:nvSpPr>
            <p:cNvPr name="Freeform 3" id="3"/>
            <p:cNvSpPr/>
            <p:nvPr/>
          </p:nvSpPr>
          <p:spPr>
            <a:xfrm flipH="false" flipV="false" rot="0">
              <a:off x="0" y="0"/>
              <a:ext cx="14141124" cy="14141124"/>
            </a:xfrm>
            <a:custGeom>
              <a:avLst/>
              <a:gdLst/>
              <a:ahLst/>
              <a:cxnLst/>
              <a:rect r="r" b="b" t="t" l="l"/>
              <a:pathLst>
                <a:path h="14141124" w="14141124">
                  <a:moveTo>
                    <a:pt x="0" y="0"/>
                  </a:moveTo>
                  <a:lnTo>
                    <a:pt x="14141124" y="0"/>
                  </a:lnTo>
                  <a:lnTo>
                    <a:pt x="14141124" y="14141124"/>
                  </a:lnTo>
                  <a:lnTo>
                    <a:pt x="0" y="14141124"/>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272435" y="0"/>
              <a:ext cx="14141124" cy="14141124"/>
            </a:xfrm>
            <a:custGeom>
              <a:avLst/>
              <a:gdLst/>
              <a:ahLst/>
              <a:cxnLst/>
              <a:rect r="r" b="b" t="t" l="l"/>
              <a:pathLst>
                <a:path h="14141124" w="14141124">
                  <a:moveTo>
                    <a:pt x="0" y="0"/>
                  </a:moveTo>
                  <a:lnTo>
                    <a:pt x="14141124" y="0"/>
                  </a:lnTo>
                  <a:lnTo>
                    <a:pt x="14141124" y="14141124"/>
                  </a:lnTo>
                  <a:lnTo>
                    <a:pt x="0" y="14141124"/>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514350" y="9883238"/>
            <a:ext cx="21040117" cy="3086100"/>
            <a:chOff x="0" y="0"/>
            <a:chExt cx="5541430" cy="812800"/>
          </a:xfrm>
        </p:grpSpPr>
        <p:sp>
          <p:nvSpPr>
            <p:cNvPr name="Freeform 6" id="6"/>
            <p:cNvSpPr/>
            <p:nvPr/>
          </p:nvSpPr>
          <p:spPr>
            <a:xfrm flipH="false" flipV="false" rot="0">
              <a:off x="0" y="0"/>
              <a:ext cx="5541430" cy="812800"/>
            </a:xfrm>
            <a:custGeom>
              <a:avLst/>
              <a:gdLst/>
              <a:ahLst/>
              <a:cxnLst/>
              <a:rect r="r" b="b" t="t" l="l"/>
              <a:pathLst>
                <a:path h="812800" w="5541430">
                  <a:moveTo>
                    <a:pt x="0" y="0"/>
                  </a:moveTo>
                  <a:lnTo>
                    <a:pt x="5541430" y="0"/>
                  </a:lnTo>
                  <a:lnTo>
                    <a:pt x="5541430" y="812800"/>
                  </a:lnTo>
                  <a:lnTo>
                    <a:pt x="0" y="812800"/>
                  </a:lnTo>
                  <a:close/>
                </a:path>
              </a:pathLst>
            </a:custGeom>
            <a:solidFill>
              <a:srgbClr val="DAFFFB"/>
            </a:solidFill>
          </p:spPr>
        </p:sp>
        <p:sp>
          <p:nvSpPr>
            <p:cNvPr name="TextBox 7" id="7"/>
            <p:cNvSpPr txBox="true"/>
            <p:nvPr/>
          </p:nvSpPr>
          <p:spPr>
            <a:xfrm>
              <a:off x="0" y="-38100"/>
              <a:ext cx="5541430" cy="850900"/>
            </a:xfrm>
            <a:prstGeom prst="rect">
              <a:avLst/>
            </a:prstGeom>
          </p:spPr>
          <p:txBody>
            <a:bodyPr anchor="ctr" rtlCol="false" tIns="50800" lIns="50800" bIns="50800" rIns="50800"/>
            <a:lstStyle/>
            <a:p>
              <a:pPr algn="ctr">
                <a:lnSpc>
                  <a:spcPts val="3462"/>
                </a:lnSpc>
              </a:pPr>
            </a:p>
          </p:txBody>
        </p:sp>
      </p:grpSp>
      <p:sp>
        <p:nvSpPr>
          <p:cNvPr name="Freeform 8" id="8"/>
          <p:cNvSpPr/>
          <p:nvPr/>
        </p:nvSpPr>
        <p:spPr>
          <a:xfrm flipH="false" flipV="false" rot="0">
            <a:off x="1300641" y="1493327"/>
            <a:ext cx="4863678" cy="7355278"/>
          </a:xfrm>
          <a:custGeom>
            <a:avLst/>
            <a:gdLst/>
            <a:ahLst/>
            <a:cxnLst/>
            <a:rect r="r" b="b" t="t" l="l"/>
            <a:pathLst>
              <a:path h="7355278" w="4863678">
                <a:moveTo>
                  <a:pt x="0" y="0"/>
                </a:moveTo>
                <a:lnTo>
                  <a:pt x="4863678" y="0"/>
                </a:lnTo>
                <a:lnTo>
                  <a:pt x="4863678" y="7355278"/>
                </a:lnTo>
                <a:lnTo>
                  <a:pt x="0" y="7355278"/>
                </a:lnTo>
                <a:lnTo>
                  <a:pt x="0" y="0"/>
                </a:lnTo>
                <a:close/>
              </a:path>
            </a:pathLst>
          </a:custGeom>
          <a:blipFill>
            <a:blip r:embed="rId4"/>
            <a:stretch>
              <a:fillRect l="0" t="0" r="0" b="0"/>
            </a:stretch>
          </a:blipFill>
        </p:spPr>
      </p:sp>
      <p:graphicFrame>
        <p:nvGraphicFramePr>
          <p:cNvPr name="Table 9" id="9"/>
          <p:cNvGraphicFramePr>
            <a:graphicFrameLocks noGrp="true"/>
          </p:cNvGraphicFramePr>
          <p:nvPr/>
        </p:nvGraphicFramePr>
        <p:xfrm>
          <a:off x="8162818" y="1161789"/>
          <a:ext cx="7315200" cy="4165600"/>
        </p:xfrm>
        <a:graphic>
          <a:graphicData uri="http://schemas.openxmlformats.org/drawingml/2006/table">
            <a:tbl>
              <a:tblPr/>
              <a:tblGrid>
                <a:gridCol w="1463040"/>
                <a:gridCol w="1463040"/>
                <a:gridCol w="1463040"/>
                <a:gridCol w="1463040"/>
                <a:gridCol w="1463040"/>
              </a:tblGrid>
              <a:tr h="736794">
                <a:tc>
                  <a:txBody>
                    <a:bodyPr anchor="t" rtlCol="false"/>
                    <a:lstStyle/>
                    <a:p>
                      <a:pPr algn="l">
                        <a:lnSpc>
                          <a:spcPts val="1679"/>
                        </a:lnSpc>
                        <a:defRPr/>
                      </a:pPr>
                      <a:r>
                        <a:rPr lang="en-US" sz="1200">
                          <a:solidFill>
                            <a:srgbClr val="FFFFFF"/>
                          </a:solidFill>
                          <a:latin typeface="Canva Sans"/>
                          <a:ea typeface="Canva Sans"/>
                          <a:cs typeface="Canva Sans"/>
                          <a:sym typeface="Canva Sans"/>
                        </a:rPr>
                        <a:t>Num of Cities</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1679"/>
                        </a:lnSpc>
                        <a:defRPr/>
                      </a:pPr>
                      <a:r>
                        <a:rPr lang="en-US" sz="1200">
                          <a:solidFill>
                            <a:srgbClr val="FFFFFF"/>
                          </a:solidFill>
                          <a:latin typeface="Canva Sans"/>
                          <a:ea typeface="Canva Sans"/>
                          <a:cs typeface="Canva Sans"/>
                          <a:sym typeface="Canva Sans"/>
                        </a:rPr>
                        <a:t>BnB</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1679"/>
                        </a:lnSpc>
                        <a:defRPr/>
                      </a:pPr>
                      <a:r>
                        <a:rPr lang="en-US" sz="1200">
                          <a:solidFill>
                            <a:srgbClr val="FFFFFF"/>
                          </a:solidFill>
                          <a:latin typeface="Canva Sans"/>
                          <a:ea typeface="Canva Sans"/>
                          <a:cs typeface="Canva Sans"/>
                          <a:sym typeface="Canva Sans"/>
                        </a:rPr>
                        <a:t>IDA*</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1679"/>
                        </a:lnSpc>
                        <a:defRPr/>
                      </a:pPr>
                      <a:r>
                        <a:rPr lang="en-US" sz="1200">
                          <a:solidFill>
                            <a:srgbClr val="FFFFFF"/>
                          </a:solidFill>
                          <a:latin typeface="Canva Sans"/>
                          <a:ea typeface="Canva Sans"/>
                          <a:cs typeface="Canva Sans"/>
                          <a:sym typeface="Canva Sans"/>
                        </a:rPr>
                        <a:t> Hill Climbing</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1679"/>
                        </a:lnSpc>
                        <a:defRPr/>
                      </a:pPr>
                      <a:r>
                        <a:rPr lang="en-US" sz="1200">
                          <a:solidFill>
                            <a:srgbClr val="FFFFFF"/>
                          </a:solidFill>
                          <a:latin typeface="Canva Sans"/>
                          <a:ea typeface="Canva Sans"/>
                          <a:cs typeface="Canva Sans"/>
                          <a:sym typeface="Canva Sans"/>
                        </a:rPr>
                        <a:t>Simulated Annealing</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r>
              <a:tr h="685761">
                <a:tc>
                  <a:txBody>
                    <a:bodyPr anchor="t" rtlCol="false"/>
                    <a:lstStyle/>
                    <a:p>
                      <a:pPr algn="l">
                        <a:lnSpc>
                          <a:spcPts val="1679"/>
                        </a:lnSpc>
                        <a:defRPr/>
                      </a:pPr>
                      <a:r>
                        <a:rPr lang="en-US" sz="1200">
                          <a:solidFill>
                            <a:srgbClr val="FFFFFF"/>
                          </a:solidFill>
                          <a:latin typeface="Canva Sans"/>
                          <a:ea typeface="Canva Sans"/>
                          <a:cs typeface="Canva Sans"/>
                          <a:sym typeface="Canva Sans"/>
                        </a:rPr>
                        <a:t>5</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1679"/>
                        </a:lnSpc>
                        <a:defRPr/>
                      </a:pPr>
                      <a:r>
                        <a:rPr lang="en-US" sz="1200">
                          <a:solidFill>
                            <a:srgbClr val="FFFFFF"/>
                          </a:solidFill>
                          <a:latin typeface="Canva Sans"/>
                          <a:ea typeface="Canva Sans"/>
                          <a:cs typeface="Canva Sans"/>
                          <a:sym typeface="Canva Sans"/>
                        </a:rPr>
                        <a:t>0.007</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1679"/>
                        </a:lnSpc>
                        <a:defRPr/>
                      </a:pPr>
                      <a:r>
                        <a:rPr lang="en-US" sz="1200">
                          <a:solidFill>
                            <a:srgbClr val="FFFFFF"/>
                          </a:solidFill>
                          <a:latin typeface="Canva Sans"/>
                          <a:ea typeface="Canva Sans"/>
                          <a:cs typeface="Canva Sans"/>
                          <a:sym typeface="Canva Sans"/>
                        </a:rPr>
                        <a:t>0.7943</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1679"/>
                        </a:lnSpc>
                        <a:defRPr/>
                      </a:pPr>
                      <a:r>
                        <a:rPr lang="en-US" sz="1200">
                          <a:solidFill>
                            <a:srgbClr val="FFFFFF"/>
                          </a:solidFill>
                          <a:latin typeface="Canva Sans"/>
                          <a:ea typeface="Canva Sans"/>
                          <a:cs typeface="Canva Sans"/>
                          <a:sym typeface="Canva Sans"/>
                        </a:rPr>
                        <a:t>0.0024</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1679"/>
                        </a:lnSpc>
                        <a:defRPr/>
                      </a:pPr>
                      <a:r>
                        <a:rPr lang="en-US" sz="1200">
                          <a:solidFill>
                            <a:srgbClr val="FFFFFF"/>
                          </a:solidFill>
                          <a:latin typeface="Canva Sans"/>
                          <a:ea typeface="Canva Sans"/>
                          <a:cs typeface="Canva Sans"/>
                          <a:sym typeface="Canva Sans"/>
                        </a:rPr>
                        <a:t>0.0022</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r>
              <a:tr h="685761">
                <a:tc>
                  <a:txBody>
                    <a:bodyPr anchor="t" rtlCol="false"/>
                    <a:lstStyle/>
                    <a:p>
                      <a:pPr algn="l">
                        <a:lnSpc>
                          <a:spcPts val="1679"/>
                        </a:lnSpc>
                        <a:defRPr/>
                      </a:pPr>
                      <a:r>
                        <a:rPr lang="en-US" sz="1200">
                          <a:solidFill>
                            <a:srgbClr val="FFFFFF"/>
                          </a:solidFill>
                          <a:latin typeface="Canva Sans"/>
                          <a:ea typeface="Canva Sans"/>
                          <a:cs typeface="Canva Sans"/>
                          <a:sym typeface="Canva Sans"/>
                        </a:rPr>
                        <a:t>10</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1679"/>
                        </a:lnSpc>
                        <a:defRPr/>
                      </a:pPr>
                      <a:r>
                        <a:rPr lang="en-US" sz="1200">
                          <a:solidFill>
                            <a:srgbClr val="FFFFFF"/>
                          </a:solidFill>
                          <a:latin typeface="Canva Sans"/>
                          <a:ea typeface="Canva Sans"/>
                          <a:cs typeface="Canva Sans"/>
                          <a:sym typeface="Canva Sans"/>
                        </a:rPr>
                        <a:t>0.0007</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1679"/>
                        </a:lnSpc>
                        <a:defRPr/>
                      </a:pPr>
                      <a:r>
                        <a:rPr lang="en-US" sz="1200">
                          <a:solidFill>
                            <a:srgbClr val="FFFFFF"/>
                          </a:solidFill>
                          <a:latin typeface="Canva Sans"/>
                          <a:ea typeface="Canva Sans"/>
                          <a:cs typeface="Canva Sans"/>
                          <a:sym typeface="Canva Sans"/>
                        </a:rPr>
                        <a:t>0.7653</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1679"/>
                        </a:lnSpc>
                        <a:defRPr/>
                      </a:pPr>
                      <a:r>
                        <a:rPr lang="en-US" sz="1200">
                          <a:solidFill>
                            <a:srgbClr val="FFFFFF"/>
                          </a:solidFill>
                          <a:latin typeface="Canva Sans"/>
                          <a:ea typeface="Canva Sans"/>
                          <a:cs typeface="Canva Sans"/>
                          <a:sym typeface="Canva Sans"/>
                        </a:rPr>
                        <a:t>0.0025</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1679"/>
                        </a:lnSpc>
                        <a:defRPr/>
                      </a:pPr>
                      <a:r>
                        <a:rPr lang="en-US" sz="1200">
                          <a:solidFill>
                            <a:srgbClr val="FFFFFF"/>
                          </a:solidFill>
                          <a:latin typeface="Canva Sans"/>
                          <a:ea typeface="Canva Sans"/>
                          <a:cs typeface="Canva Sans"/>
                          <a:sym typeface="Canva Sans"/>
                        </a:rPr>
                        <a:t>0.0023</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r>
              <a:tr h="685761">
                <a:tc>
                  <a:txBody>
                    <a:bodyPr anchor="t" rtlCol="false"/>
                    <a:lstStyle/>
                    <a:p>
                      <a:pPr algn="l">
                        <a:lnSpc>
                          <a:spcPts val="1679"/>
                        </a:lnSpc>
                        <a:defRPr/>
                      </a:pPr>
                      <a:r>
                        <a:rPr lang="en-US" sz="1200">
                          <a:solidFill>
                            <a:srgbClr val="FFFFFF"/>
                          </a:solidFill>
                          <a:latin typeface="Canva Sans"/>
                          <a:ea typeface="Canva Sans"/>
                          <a:cs typeface="Canva Sans"/>
                          <a:sym typeface="Canva Sans"/>
                        </a:rPr>
                        <a:t>15</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1679"/>
                        </a:lnSpc>
                        <a:defRPr/>
                      </a:pPr>
                      <a:r>
                        <a:rPr lang="en-US" sz="1200">
                          <a:solidFill>
                            <a:srgbClr val="FFFFFF"/>
                          </a:solidFill>
                          <a:latin typeface="Canva Sans"/>
                          <a:ea typeface="Canva Sans"/>
                          <a:cs typeface="Canva Sans"/>
                          <a:sym typeface="Canva Sans"/>
                        </a:rPr>
                        <a:t>0.0009</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1679"/>
                        </a:lnSpc>
                        <a:defRPr/>
                      </a:pPr>
                      <a:r>
                        <a:rPr lang="en-US" sz="1200">
                          <a:solidFill>
                            <a:srgbClr val="FFFFFF"/>
                          </a:solidFill>
                          <a:latin typeface="Canva Sans"/>
                          <a:ea typeface="Canva Sans"/>
                          <a:cs typeface="Canva Sans"/>
                          <a:sym typeface="Canva Sans"/>
                        </a:rPr>
                        <a:t>0.8397</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1679"/>
                        </a:lnSpc>
                        <a:defRPr/>
                      </a:pPr>
                      <a:r>
                        <a:rPr lang="en-US" sz="1200">
                          <a:solidFill>
                            <a:srgbClr val="FFFFFF"/>
                          </a:solidFill>
                          <a:latin typeface="Canva Sans"/>
                          <a:ea typeface="Canva Sans"/>
                          <a:cs typeface="Canva Sans"/>
                          <a:sym typeface="Canva Sans"/>
                        </a:rPr>
                        <a:t>0.0024</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1679"/>
                        </a:lnSpc>
                        <a:defRPr/>
                      </a:pPr>
                      <a:r>
                        <a:rPr lang="en-US" sz="1200">
                          <a:solidFill>
                            <a:srgbClr val="FFFFFF"/>
                          </a:solidFill>
                          <a:latin typeface="Canva Sans"/>
                          <a:ea typeface="Canva Sans"/>
                          <a:cs typeface="Canva Sans"/>
                          <a:sym typeface="Canva Sans"/>
                        </a:rPr>
                        <a:t>0.0022</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r>
              <a:tr h="685761">
                <a:tc>
                  <a:txBody>
                    <a:bodyPr anchor="t" rtlCol="false"/>
                    <a:lstStyle/>
                    <a:p>
                      <a:pPr algn="l">
                        <a:lnSpc>
                          <a:spcPts val="1679"/>
                        </a:lnSpc>
                        <a:defRPr/>
                      </a:pPr>
                      <a:r>
                        <a:rPr lang="en-US" sz="1200">
                          <a:solidFill>
                            <a:srgbClr val="FFFFFF"/>
                          </a:solidFill>
                          <a:latin typeface="Canva Sans"/>
                          <a:ea typeface="Canva Sans"/>
                          <a:cs typeface="Canva Sans"/>
                          <a:sym typeface="Canva Sans"/>
                        </a:rPr>
                        <a:t>20</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1679"/>
                        </a:lnSpc>
                        <a:defRPr/>
                      </a:pPr>
                      <a:r>
                        <a:rPr lang="en-US" sz="1200">
                          <a:solidFill>
                            <a:srgbClr val="FFFFFF"/>
                          </a:solidFill>
                          <a:latin typeface="Canva Sans"/>
                          <a:ea typeface="Canva Sans"/>
                          <a:cs typeface="Canva Sans"/>
                          <a:sym typeface="Canva Sans"/>
                        </a:rPr>
                        <a:t>0.0011</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1679"/>
                        </a:lnSpc>
                        <a:defRPr/>
                      </a:pPr>
                      <a:r>
                        <a:rPr lang="en-US" sz="1200">
                          <a:solidFill>
                            <a:srgbClr val="FFFFFF"/>
                          </a:solidFill>
                          <a:latin typeface="Canva Sans"/>
                          <a:ea typeface="Canva Sans"/>
                          <a:cs typeface="Canva Sans"/>
                          <a:sym typeface="Canva Sans"/>
                        </a:rPr>
                        <a:t>0.816</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1679"/>
                        </a:lnSpc>
                        <a:defRPr/>
                      </a:pPr>
                      <a:r>
                        <a:rPr lang="en-US" sz="1200">
                          <a:solidFill>
                            <a:srgbClr val="FFFFFF"/>
                          </a:solidFill>
                          <a:latin typeface="Canva Sans"/>
                          <a:ea typeface="Canva Sans"/>
                          <a:cs typeface="Canva Sans"/>
                          <a:sym typeface="Canva Sans"/>
                        </a:rPr>
                        <a:t>0.0025</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1679"/>
                        </a:lnSpc>
                        <a:defRPr/>
                      </a:pPr>
                      <a:r>
                        <a:rPr lang="en-US" sz="1200">
                          <a:solidFill>
                            <a:srgbClr val="FFFFFF"/>
                          </a:solidFill>
                          <a:latin typeface="Canva Sans"/>
                          <a:ea typeface="Canva Sans"/>
                          <a:cs typeface="Canva Sans"/>
                          <a:sym typeface="Canva Sans"/>
                        </a:rPr>
                        <a:t>0.0023</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r>
              <a:tr h="685761">
                <a:tc>
                  <a:txBody>
                    <a:bodyPr anchor="t" rtlCol="false"/>
                    <a:lstStyle/>
                    <a:p>
                      <a:pPr algn="l">
                        <a:lnSpc>
                          <a:spcPts val="1679"/>
                        </a:lnSpc>
                        <a:defRPr/>
                      </a:pPr>
                      <a:r>
                        <a:rPr lang="en-US" sz="1200">
                          <a:solidFill>
                            <a:srgbClr val="FFFFFF"/>
                          </a:solidFill>
                          <a:latin typeface="Canva Sans"/>
                          <a:ea typeface="Canva Sans"/>
                          <a:cs typeface="Canva Sans"/>
                          <a:sym typeface="Canva Sans"/>
                        </a:rPr>
                        <a:t>25</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1679"/>
                        </a:lnSpc>
                        <a:defRPr/>
                      </a:pPr>
                      <a:r>
                        <a:rPr lang="en-US" sz="1200">
                          <a:solidFill>
                            <a:srgbClr val="FFFFFF"/>
                          </a:solidFill>
                          <a:latin typeface="Canva Sans"/>
                          <a:ea typeface="Canva Sans"/>
                          <a:cs typeface="Canva Sans"/>
                          <a:sym typeface="Canva Sans"/>
                        </a:rPr>
                        <a:t>0.0009</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1679"/>
                        </a:lnSpc>
                        <a:defRPr/>
                      </a:pPr>
                      <a:r>
                        <a:rPr lang="en-US" sz="1200">
                          <a:solidFill>
                            <a:srgbClr val="FFFFFF"/>
                          </a:solidFill>
                          <a:latin typeface="Canva Sans"/>
                          <a:ea typeface="Canva Sans"/>
                          <a:cs typeface="Canva Sans"/>
                          <a:sym typeface="Canva Sans"/>
                        </a:rPr>
                        <a:t>1.1849</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1679"/>
                        </a:lnSpc>
                        <a:defRPr/>
                      </a:pPr>
                      <a:r>
                        <a:rPr lang="en-US" sz="1200">
                          <a:solidFill>
                            <a:srgbClr val="FFFFFF"/>
                          </a:solidFill>
                          <a:latin typeface="Canva Sans"/>
                          <a:ea typeface="Canva Sans"/>
                          <a:cs typeface="Canva Sans"/>
                          <a:sym typeface="Canva Sans"/>
                        </a:rPr>
                        <a:t>0.0028</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1679"/>
                        </a:lnSpc>
                        <a:defRPr/>
                      </a:pPr>
                      <a:r>
                        <a:rPr lang="en-US" sz="1200">
                          <a:solidFill>
                            <a:srgbClr val="FFFFFF"/>
                          </a:solidFill>
                          <a:latin typeface="Canva Sans"/>
                          <a:ea typeface="Canva Sans"/>
                          <a:cs typeface="Canva Sans"/>
                          <a:sym typeface="Canva Sans"/>
                        </a:rPr>
                        <a:t>0.0025</a:t>
                      </a:r>
                      <a:endParaRPr lang="en-US" sz="1100"/>
                    </a:p>
                  </a:txBody>
                  <a:tcPr marL="133350" marR="133350" marT="133350" marB="1333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r>
            </a:tbl>
          </a:graphicData>
        </a:graphic>
      </p:graphicFrame>
      <p:sp>
        <p:nvSpPr>
          <p:cNvPr name="TextBox 10" id="10"/>
          <p:cNvSpPr txBox="true"/>
          <p:nvPr/>
        </p:nvSpPr>
        <p:spPr>
          <a:xfrm rot="0">
            <a:off x="9818222" y="6879873"/>
            <a:ext cx="7441078" cy="2140850"/>
          </a:xfrm>
          <a:prstGeom prst="rect">
            <a:avLst/>
          </a:prstGeom>
        </p:spPr>
        <p:txBody>
          <a:bodyPr anchor="t" rtlCol="false" tIns="0" lIns="0" bIns="0" rIns="0">
            <a:spAutoFit/>
          </a:bodyPr>
          <a:lstStyle/>
          <a:p>
            <a:pPr algn="r">
              <a:lnSpc>
                <a:spcPts val="7269"/>
              </a:lnSpc>
            </a:pPr>
            <a:r>
              <a:rPr lang="en-US" b="true" sz="7902" spc="-276">
                <a:solidFill>
                  <a:srgbClr val="DAFFFB"/>
                </a:solidFill>
                <a:latin typeface="Helvetica World Bold"/>
                <a:ea typeface="Helvetica World Bold"/>
                <a:cs typeface="Helvetica World Bold"/>
                <a:sym typeface="Helvetica World Bold"/>
              </a:rPr>
              <a:t>Perfomance of Algorithms</a:t>
            </a:r>
          </a:p>
        </p:txBody>
      </p:sp>
      <p:sp>
        <p:nvSpPr>
          <p:cNvPr name="TextBox 11" id="11"/>
          <p:cNvSpPr txBox="true"/>
          <p:nvPr/>
        </p:nvSpPr>
        <p:spPr>
          <a:xfrm rot="0">
            <a:off x="13789861" y="5388526"/>
            <a:ext cx="1688157" cy="264160"/>
          </a:xfrm>
          <a:prstGeom prst="rect">
            <a:avLst/>
          </a:prstGeom>
        </p:spPr>
        <p:txBody>
          <a:bodyPr anchor="t" rtlCol="false" tIns="0" lIns="0" bIns="0" rIns="0">
            <a:spAutoFit/>
          </a:bodyPr>
          <a:lstStyle/>
          <a:p>
            <a:pPr algn="just">
              <a:lnSpc>
                <a:spcPts val="2239"/>
              </a:lnSpc>
              <a:spcBef>
                <a:spcPct val="0"/>
              </a:spcBef>
            </a:pPr>
            <a:r>
              <a:rPr lang="en-US" b="true" sz="1599">
                <a:solidFill>
                  <a:srgbClr val="DAFFFB"/>
                </a:solidFill>
                <a:latin typeface="Canva Sans Bold"/>
                <a:ea typeface="Canva Sans Bold"/>
                <a:cs typeface="Canva Sans Bold"/>
                <a:sym typeface="Canva Sans Bold"/>
              </a:rPr>
              <a:t>Time is in the sec</a:t>
            </a:r>
          </a:p>
        </p:txBody>
      </p:sp>
      <p:sp>
        <p:nvSpPr>
          <p:cNvPr name="TextBox 12" id="12"/>
          <p:cNvSpPr txBox="true"/>
          <p:nvPr/>
        </p:nvSpPr>
        <p:spPr>
          <a:xfrm rot="0">
            <a:off x="12147245" y="5709836"/>
            <a:ext cx="3330773" cy="264160"/>
          </a:xfrm>
          <a:prstGeom prst="rect">
            <a:avLst/>
          </a:prstGeom>
        </p:spPr>
        <p:txBody>
          <a:bodyPr anchor="t" rtlCol="false" tIns="0" lIns="0" bIns="0" rIns="0">
            <a:spAutoFit/>
          </a:bodyPr>
          <a:lstStyle/>
          <a:p>
            <a:pPr algn="ctr">
              <a:lnSpc>
                <a:spcPts val="2239"/>
              </a:lnSpc>
              <a:spcBef>
                <a:spcPct val="0"/>
              </a:spcBef>
            </a:pPr>
            <a:r>
              <a:rPr lang="en-US" b="true" sz="1599">
                <a:solidFill>
                  <a:srgbClr val="DAFFFB"/>
                </a:solidFill>
                <a:latin typeface="Canva Sans Bold"/>
                <a:ea typeface="Canva Sans Bold"/>
                <a:cs typeface="Canva Sans Bold"/>
                <a:sym typeface="Canva Sans Bold"/>
              </a:rPr>
              <a:t>BnB is n</a:t>
            </a:r>
            <a:r>
              <a:rPr lang="en-US" b="true" sz="1599">
                <a:solidFill>
                  <a:srgbClr val="DAFFFB"/>
                </a:solidFill>
                <a:latin typeface="Canva Sans Bold"/>
                <a:ea typeface="Canva Sans Bold"/>
                <a:cs typeface="Canva Sans Bold"/>
                <a:sym typeface="Canva Sans Bold"/>
              </a:rPr>
              <a:t>ot reaching in some cases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90909"/>
        </a:solidFill>
      </p:bgPr>
    </p:bg>
    <p:spTree>
      <p:nvGrpSpPr>
        <p:cNvPr id="1" name=""/>
        <p:cNvGrpSpPr/>
        <p:nvPr/>
      </p:nvGrpSpPr>
      <p:grpSpPr>
        <a:xfrm>
          <a:off x="0" y="0"/>
          <a:ext cx="0" cy="0"/>
          <a:chOff x="0" y="0"/>
          <a:chExt cx="0" cy="0"/>
        </a:xfrm>
      </p:grpSpPr>
      <p:grpSp>
        <p:nvGrpSpPr>
          <p:cNvPr name="Group 2" id="2"/>
          <p:cNvGrpSpPr/>
          <p:nvPr/>
        </p:nvGrpSpPr>
        <p:grpSpPr>
          <a:xfrm rot="0">
            <a:off x="-386085" y="-159421"/>
            <a:ext cx="19060169" cy="10605843"/>
            <a:chOff x="0" y="0"/>
            <a:chExt cx="25413559" cy="14141124"/>
          </a:xfrm>
        </p:grpSpPr>
        <p:sp>
          <p:nvSpPr>
            <p:cNvPr name="Freeform 3" id="3"/>
            <p:cNvSpPr/>
            <p:nvPr/>
          </p:nvSpPr>
          <p:spPr>
            <a:xfrm flipH="false" flipV="false" rot="0">
              <a:off x="0" y="0"/>
              <a:ext cx="14141124" cy="14141124"/>
            </a:xfrm>
            <a:custGeom>
              <a:avLst/>
              <a:gdLst/>
              <a:ahLst/>
              <a:cxnLst/>
              <a:rect r="r" b="b" t="t" l="l"/>
              <a:pathLst>
                <a:path h="14141124" w="14141124">
                  <a:moveTo>
                    <a:pt x="0" y="0"/>
                  </a:moveTo>
                  <a:lnTo>
                    <a:pt x="14141124" y="0"/>
                  </a:lnTo>
                  <a:lnTo>
                    <a:pt x="14141124" y="14141124"/>
                  </a:lnTo>
                  <a:lnTo>
                    <a:pt x="0" y="14141124"/>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272435" y="0"/>
              <a:ext cx="14141124" cy="14141124"/>
            </a:xfrm>
            <a:custGeom>
              <a:avLst/>
              <a:gdLst/>
              <a:ahLst/>
              <a:cxnLst/>
              <a:rect r="r" b="b" t="t" l="l"/>
              <a:pathLst>
                <a:path h="14141124" w="14141124">
                  <a:moveTo>
                    <a:pt x="0" y="0"/>
                  </a:moveTo>
                  <a:lnTo>
                    <a:pt x="14141124" y="0"/>
                  </a:lnTo>
                  <a:lnTo>
                    <a:pt x="14141124" y="14141124"/>
                  </a:lnTo>
                  <a:lnTo>
                    <a:pt x="0" y="14141124"/>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1028700" y="4401745"/>
            <a:ext cx="9860907" cy="2238026"/>
          </a:xfrm>
          <a:prstGeom prst="rect">
            <a:avLst/>
          </a:prstGeom>
        </p:spPr>
        <p:txBody>
          <a:bodyPr anchor="t" rtlCol="false" tIns="0" lIns="0" bIns="0" rIns="0">
            <a:spAutoFit/>
          </a:bodyPr>
          <a:lstStyle/>
          <a:p>
            <a:pPr algn="l">
              <a:lnSpc>
                <a:spcPts val="14662"/>
              </a:lnSpc>
            </a:pPr>
            <a:r>
              <a:rPr lang="en-US" b="true" sz="15937" spc="-557">
                <a:solidFill>
                  <a:srgbClr val="DAFFFB"/>
                </a:solidFill>
                <a:latin typeface="Helvetica World Bold"/>
                <a:ea typeface="Helvetica World Bold"/>
                <a:cs typeface="Helvetica World Bold"/>
                <a:sym typeface="Helvetica World Bold"/>
              </a:rPr>
              <a:t>Thankyou</a:t>
            </a:r>
          </a:p>
        </p:txBody>
      </p:sp>
      <p:grpSp>
        <p:nvGrpSpPr>
          <p:cNvPr name="Group 6" id="6"/>
          <p:cNvGrpSpPr/>
          <p:nvPr/>
        </p:nvGrpSpPr>
        <p:grpSpPr>
          <a:xfrm rot="0">
            <a:off x="1133443" y="7017948"/>
            <a:ext cx="4409458" cy="771704"/>
            <a:chOff x="0" y="0"/>
            <a:chExt cx="1406401" cy="246136"/>
          </a:xfrm>
        </p:grpSpPr>
        <p:sp>
          <p:nvSpPr>
            <p:cNvPr name="Freeform 7" id="7"/>
            <p:cNvSpPr/>
            <p:nvPr/>
          </p:nvSpPr>
          <p:spPr>
            <a:xfrm flipH="false" flipV="false" rot="0">
              <a:off x="0" y="0"/>
              <a:ext cx="1406401" cy="246136"/>
            </a:xfrm>
            <a:custGeom>
              <a:avLst/>
              <a:gdLst/>
              <a:ahLst/>
              <a:cxnLst/>
              <a:rect r="r" b="b" t="t" l="l"/>
              <a:pathLst>
                <a:path h="246136" w="1406401">
                  <a:moveTo>
                    <a:pt x="89543" y="0"/>
                  </a:moveTo>
                  <a:lnTo>
                    <a:pt x="1316857" y="0"/>
                  </a:lnTo>
                  <a:cubicBezTo>
                    <a:pt x="1340606" y="0"/>
                    <a:pt x="1363381" y="9434"/>
                    <a:pt x="1380174" y="26227"/>
                  </a:cubicBezTo>
                  <a:cubicBezTo>
                    <a:pt x="1396967" y="43019"/>
                    <a:pt x="1406401" y="65795"/>
                    <a:pt x="1406401" y="89543"/>
                  </a:cubicBezTo>
                  <a:lnTo>
                    <a:pt x="1406401" y="156592"/>
                  </a:lnTo>
                  <a:cubicBezTo>
                    <a:pt x="1406401" y="206046"/>
                    <a:pt x="1366311" y="246136"/>
                    <a:pt x="1316857" y="246136"/>
                  </a:cubicBezTo>
                  <a:lnTo>
                    <a:pt x="89543" y="246136"/>
                  </a:lnTo>
                  <a:cubicBezTo>
                    <a:pt x="40090" y="246136"/>
                    <a:pt x="0" y="206046"/>
                    <a:pt x="0" y="156592"/>
                  </a:cubicBezTo>
                  <a:lnTo>
                    <a:pt x="0" y="89543"/>
                  </a:lnTo>
                  <a:cubicBezTo>
                    <a:pt x="0" y="40090"/>
                    <a:pt x="40090" y="0"/>
                    <a:pt x="89543" y="0"/>
                  </a:cubicBezTo>
                  <a:close/>
                </a:path>
              </a:pathLst>
            </a:custGeom>
            <a:solidFill>
              <a:srgbClr val="000000">
                <a:alpha val="0"/>
              </a:srgbClr>
            </a:solidFill>
            <a:ln w="19050" cap="rnd">
              <a:solidFill>
                <a:srgbClr val="FFFFFF"/>
              </a:solidFill>
              <a:prstDash val="solid"/>
              <a:round/>
            </a:ln>
          </p:spPr>
        </p:sp>
        <p:sp>
          <p:nvSpPr>
            <p:cNvPr name="TextBox 8" id="8"/>
            <p:cNvSpPr txBox="true"/>
            <p:nvPr/>
          </p:nvSpPr>
          <p:spPr>
            <a:xfrm>
              <a:off x="0" y="-47625"/>
              <a:ext cx="1406401" cy="293761"/>
            </a:xfrm>
            <a:prstGeom prst="rect">
              <a:avLst/>
            </a:prstGeom>
          </p:spPr>
          <p:txBody>
            <a:bodyPr anchor="ctr" rtlCol="false" tIns="50800" lIns="50800" bIns="50800" rIns="50800"/>
            <a:lstStyle/>
            <a:p>
              <a:pPr algn="ctr">
                <a:lnSpc>
                  <a:spcPts val="3669"/>
                </a:lnSpc>
              </a:pPr>
            </a:p>
          </p:txBody>
        </p:sp>
      </p:grpSp>
      <p:sp>
        <p:nvSpPr>
          <p:cNvPr name="TextBox 9" id="9"/>
          <p:cNvSpPr txBox="true"/>
          <p:nvPr/>
        </p:nvSpPr>
        <p:spPr>
          <a:xfrm rot="0">
            <a:off x="1538253" y="7043209"/>
            <a:ext cx="3580787" cy="578308"/>
          </a:xfrm>
          <a:prstGeom prst="rect">
            <a:avLst/>
          </a:prstGeom>
        </p:spPr>
        <p:txBody>
          <a:bodyPr anchor="t" rtlCol="false" tIns="0" lIns="0" bIns="0" rIns="0">
            <a:spAutoFit/>
          </a:bodyPr>
          <a:lstStyle/>
          <a:p>
            <a:pPr algn="ctr">
              <a:lnSpc>
                <a:spcPts val="4747"/>
              </a:lnSpc>
            </a:pPr>
            <a:r>
              <a:rPr lang="en-US" sz="3390">
                <a:solidFill>
                  <a:srgbClr val="FFFFFF"/>
                </a:solidFill>
                <a:latin typeface="Canva Sans"/>
                <a:ea typeface="Canva Sans"/>
                <a:cs typeface="Canva Sans"/>
                <a:sym typeface="Canva Sans"/>
              </a:rPr>
              <a:t>Assignment-2</a:t>
            </a:r>
          </a:p>
        </p:txBody>
      </p:sp>
      <p:grpSp>
        <p:nvGrpSpPr>
          <p:cNvPr name="Group 10" id="10"/>
          <p:cNvGrpSpPr/>
          <p:nvPr/>
        </p:nvGrpSpPr>
        <p:grpSpPr>
          <a:xfrm rot="0">
            <a:off x="-514350" y="9883238"/>
            <a:ext cx="21040117" cy="3086100"/>
            <a:chOff x="0" y="0"/>
            <a:chExt cx="5541430" cy="812800"/>
          </a:xfrm>
        </p:grpSpPr>
        <p:sp>
          <p:nvSpPr>
            <p:cNvPr name="Freeform 11" id="11"/>
            <p:cNvSpPr/>
            <p:nvPr/>
          </p:nvSpPr>
          <p:spPr>
            <a:xfrm flipH="false" flipV="false" rot="0">
              <a:off x="0" y="0"/>
              <a:ext cx="5541430" cy="812800"/>
            </a:xfrm>
            <a:custGeom>
              <a:avLst/>
              <a:gdLst/>
              <a:ahLst/>
              <a:cxnLst/>
              <a:rect r="r" b="b" t="t" l="l"/>
              <a:pathLst>
                <a:path h="812800" w="5541430">
                  <a:moveTo>
                    <a:pt x="0" y="0"/>
                  </a:moveTo>
                  <a:lnTo>
                    <a:pt x="5541430" y="0"/>
                  </a:lnTo>
                  <a:lnTo>
                    <a:pt x="5541430" y="812800"/>
                  </a:lnTo>
                  <a:lnTo>
                    <a:pt x="0" y="812800"/>
                  </a:lnTo>
                  <a:close/>
                </a:path>
              </a:pathLst>
            </a:custGeom>
            <a:solidFill>
              <a:srgbClr val="DAFFFB"/>
            </a:solidFill>
          </p:spPr>
        </p:sp>
        <p:sp>
          <p:nvSpPr>
            <p:cNvPr name="TextBox 12" id="12"/>
            <p:cNvSpPr txBox="true"/>
            <p:nvPr/>
          </p:nvSpPr>
          <p:spPr>
            <a:xfrm>
              <a:off x="0" y="-38100"/>
              <a:ext cx="5541430" cy="850900"/>
            </a:xfrm>
            <a:prstGeom prst="rect">
              <a:avLst/>
            </a:prstGeom>
          </p:spPr>
          <p:txBody>
            <a:bodyPr anchor="ctr" rtlCol="false" tIns="50800" lIns="50800" bIns="50800" rIns="50800"/>
            <a:lstStyle/>
            <a:p>
              <a:pPr algn="ctr">
                <a:lnSpc>
                  <a:spcPts val="3462"/>
                </a:lnSpc>
              </a:pPr>
            </a:p>
          </p:txBody>
        </p:sp>
      </p:grpSp>
      <p:sp>
        <p:nvSpPr>
          <p:cNvPr name="Freeform 13" id="13"/>
          <p:cNvSpPr/>
          <p:nvPr/>
        </p:nvSpPr>
        <p:spPr>
          <a:xfrm flipH="true" flipV="false" rot="0">
            <a:off x="10889607" y="1028700"/>
            <a:ext cx="7755612" cy="9472503"/>
          </a:xfrm>
          <a:custGeom>
            <a:avLst/>
            <a:gdLst/>
            <a:ahLst/>
            <a:cxnLst/>
            <a:rect r="r" b="b" t="t" l="l"/>
            <a:pathLst>
              <a:path h="9472503" w="7755612">
                <a:moveTo>
                  <a:pt x="7755612" y="0"/>
                </a:moveTo>
                <a:lnTo>
                  <a:pt x="0" y="0"/>
                </a:lnTo>
                <a:lnTo>
                  <a:pt x="0" y="9472503"/>
                </a:lnTo>
                <a:lnTo>
                  <a:pt x="7755612" y="9472503"/>
                </a:lnTo>
                <a:lnTo>
                  <a:pt x="7755612"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DAGjyDKrUro</dc:identifier>
  <dcterms:modified xsi:type="dcterms:W3CDTF">2011-08-01T06:04:30Z</dcterms:modified>
  <cp:revision>1</cp:revision>
  <dc:title>AI Assignment-2</dc:title>
</cp:coreProperties>
</file>