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Helvetica World Bold" panose="020B0604020202020204" charset="-128"/>
      <p:regular r:id="rId9"/>
    </p:embeddedFont>
    <p:embeddedFont>
      <p:font typeface="Canva Sans" panose="020B0604020202020204" charset="0"/>
      <p:regular r:id="rId10"/>
    </p:embeddedFont>
    <p:embeddedFont>
      <p:font typeface="Canva Sans Bold" panose="020B0604020202020204" charset="0"/>
      <p:regular r:id="rId1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6" d="100"/>
          <a:sy n="56" d="100"/>
        </p:scale>
        <p:origin x="398"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font" Target="fonts/font1.fntdata"/><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4.jpeg"/><Relationship Id="rId5" Type="http://schemas.openxmlformats.org/officeDocument/2006/relationships/image" Target="../media/image2.sv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5.jpeg"/><Relationship Id="rId5" Type="http://schemas.openxmlformats.org/officeDocument/2006/relationships/image" Target="../media/image2.sv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6.jpeg"/><Relationship Id="rId5" Type="http://schemas.openxmlformats.org/officeDocument/2006/relationships/image" Target="../media/image2.sv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7.jpeg"/><Relationship Id="rId5" Type="http://schemas.openxmlformats.org/officeDocument/2006/relationships/image" Target="../media/image2.sv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0909"/>
        </a:solidFill>
        <a:effectLst/>
      </p:bgPr>
    </p:bg>
    <p:spTree>
      <p:nvGrpSpPr>
        <p:cNvPr id="1" name=""/>
        <p:cNvGrpSpPr/>
        <p:nvPr/>
      </p:nvGrpSpPr>
      <p:grpSpPr>
        <a:xfrm>
          <a:off x="0" y="0"/>
          <a:ext cx="0" cy="0"/>
          <a:chOff x="0" y="0"/>
          <a:chExt cx="0" cy="0"/>
        </a:xfrm>
      </p:grpSpPr>
      <p:grpSp>
        <p:nvGrpSpPr>
          <p:cNvPr id="2" name="Group 2"/>
          <p:cNvGrpSpPr/>
          <p:nvPr/>
        </p:nvGrpSpPr>
        <p:grpSpPr>
          <a:xfrm>
            <a:off x="-386085" y="-159421"/>
            <a:ext cx="19060169" cy="10605843"/>
            <a:chOff x="0" y="0"/>
            <a:chExt cx="25413559" cy="14141124"/>
          </a:xfrm>
        </p:grpSpPr>
        <p:sp>
          <p:nvSpPr>
            <p:cNvPr id="3" name="Freeform 3"/>
            <p:cNvSpPr/>
            <p:nvPr/>
          </p:nvSpPr>
          <p:spPr>
            <a:xfrm>
              <a:off x="0"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2">
                <a:alphaModFix amt="10999"/>
                <a:extLst>
                  <a:ext uri="{96DAC541-7B7A-43D3-8B79-37D633B846F1}">
                    <asvg:svgBlip xmlns:asvg="http://schemas.microsoft.com/office/drawing/2016/SVG/main" r:embed="rId3"/>
                  </a:ext>
                </a:extLst>
              </a:blip>
              <a:stretch>
                <a:fillRect/>
              </a:stretch>
            </a:blipFill>
          </p:spPr>
        </p:sp>
        <p:sp>
          <p:nvSpPr>
            <p:cNvPr id="4" name="Freeform 4"/>
            <p:cNvSpPr/>
            <p:nvPr/>
          </p:nvSpPr>
          <p:spPr>
            <a:xfrm>
              <a:off x="11272435"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2">
                <a:alphaModFix amt="10999"/>
                <a:extLst>
                  <a:ext uri="{96DAC541-7B7A-43D3-8B79-37D633B846F1}">
                    <asvg:svgBlip xmlns:asvg="http://schemas.microsoft.com/office/drawing/2016/SVG/main" r:embed="rId3"/>
                  </a:ext>
                </a:extLst>
              </a:blip>
              <a:stretch>
                <a:fillRect/>
              </a:stretch>
            </a:blipFill>
          </p:spPr>
        </p:sp>
      </p:grpSp>
      <p:grpSp>
        <p:nvGrpSpPr>
          <p:cNvPr id="5" name="Group 5"/>
          <p:cNvGrpSpPr/>
          <p:nvPr/>
        </p:nvGrpSpPr>
        <p:grpSpPr>
          <a:xfrm>
            <a:off x="1133443" y="3705966"/>
            <a:ext cx="3324974" cy="771704"/>
            <a:chOff x="0" y="0"/>
            <a:chExt cx="1060504" cy="246136"/>
          </a:xfrm>
        </p:grpSpPr>
        <p:sp>
          <p:nvSpPr>
            <p:cNvPr id="6" name="Freeform 6"/>
            <p:cNvSpPr/>
            <p:nvPr/>
          </p:nvSpPr>
          <p:spPr>
            <a:xfrm>
              <a:off x="0" y="0"/>
              <a:ext cx="1060503" cy="246136"/>
            </a:xfrm>
            <a:custGeom>
              <a:avLst/>
              <a:gdLst/>
              <a:ahLst/>
              <a:cxnLst/>
              <a:rect l="l" t="t" r="r" b="b"/>
              <a:pathLst>
                <a:path w="1060503" h="246136">
                  <a:moveTo>
                    <a:pt x="118749" y="0"/>
                  </a:moveTo>
                  <a:lnTo>
                    <a:pt x="941754" y="0"/>
                  </a:lnTo>
                  <a:cubicBezTo>
                    <a:pt x="973249" y="0"/>
                    <a:pt x="1003453" y="12511"/>
                    <a:pt x="1025723" y="34781"/>
                  </a:cubicBezTo>
                  <a:cubicBezTo>
                    <a:pt x="1047992" y="57051"/>
                    <a:pt x="1060503" y="87255"/>
                    <a:pt x="1060503" y="118749"/>
                  </a:cubicBezTo>
                  <a:lnTo>
                    <a:pt x="1060503" y="127387"/>
                  </a:lnTo>
                  <a:cubicBezTo>
                    <a:pt x="1060503" y="158881"/>
                    <a:pt x="1047992" y="189085"/>
                    <a:pt x="1025723" y="211355"/>
                  </a:cubicBezTo>
                  <a:cubicBezTo>
                    <a:pt x="1003453" y="233625"/>
                    <a:pt x="973249" y="246136"/>
                    <a:pt x="941754" y="246136"/>
                  </a:cubicBezTo>
                  <a:lnTo>
                    <a:pt x="118749" y="246136"/>
                  </a:lnTo>
                  <a:cubicBezTo>
                    <a:pt x="87255" y="246136"/>
                    <a:pt x="57051" y="233625"/>
                    <a:pt x="34781" y="211355"/>
                  </a:cubicBezTo>
                  <a:cubicBezTo>
                    <a:pt x="12511" y="189085"/>
                    <a:pt x="0" y="158881"/>
                    <a:pt x="0" y="127387"/>
                  </a:cubicBezTo>
                  <a:lnTo>
                    <a:pt x="0" y="118749"/>
                  </a:lnTo>
                  <a:cubicBezTo>
                    <a:pt x="0" y="87255"/>
                    <a:pt x="12511" y="57051"/>
                    <a:pt x="34781" y="34781"/>
                  </a:cubicBezTo>
                  <a:cubicBezTo>
                    <a:pt x="57051" y="12511"/>
                    <a:pt x="87255" y="0"/>
                    <a:pt x="118749" y="0"/>
                  </a:cubicBezTo>
                  <a:close/>
                </a:path>
              </a:pathLst>
            </a:custGeom>
            <a:solidFill>
              <a:srgbClr val="000000">
                <a:alpha val="0"/>
              </a:srgbClr>
            </a:solidFill>
            <a:ln w="19050" cap="rnd">
              <a:solidFill>
                <a:srgbClr val="FFFFFF"/>
              </a:solidFill>
              <a:prstDash val="solid"/>
              <a:round/>
            </a:ln>
          </p:spPr>
        </p:sp>
        <p:sp>
          <p:nvSpPr>
            <p:cNvPr id="7" name="TextBox 7"/>
            <p:cNvSpPr txBox="1"/>
            <p:nvPr/>
          </p:nvSpPr>
          <p:spPr>
            <a:xfrm>
              <a:off x="0" y="-47625"/>
              <a:ext cx="1060504" cy="293761"/>
            </a:xfrm>
            <a:prstGeom prst="rect">
              <a:avLst/>
            </a:prstGeom>
          </p:spPr>
          <p:txBody>
            <a:bodyPr lIns="50800" tIns="50800" rIns="50800" bIns="50800" rtlCol="0" anchor="ctr"/>
            <a:lstStyle/>
            <a:p>
              <a:pPr algn="ctr">
                <a:lnSpc>
                  <a:spcPts val="3669"/>
                </a:lnSpc>
              </a:pPr>
              <a:endParaRPr/>
            </a:p>
          </p:txBody>
        </p:sp>
      </p:grpSp>
      <p:grpSp>
        <p:nvGrpSpPr>
          <p:cNvPr id="8" name="Group 8"/>
          <p:cNvGrpSpPr/>
          <p:nvPr/>
        </p:nvGrpSpPr>
        <p:grpSpPr>
          <a:xfrm>
            <a:off x="-514350" y="9883238"/>
            <a:ext cx="21040117" cy="3086100"/>
            <a:chOff x="0" y="0"/>
            <a:chExt cx="5541430" cy="812800"/>
          </a:xfrm>
        </p:grpSpPr>
        <p:sp>
          <p:nvSpPr>
            <p:cNvPr id="9" name="Freeform 9"/>
            <p:cNvSpPr/>
            <p:nvPr/>
          </p:nvSpPr>
          <p:spPr>
            <a:xfrm>
              <a:off x="0" y="0"/>
              <a:ext cx="5541430" cy="812800"/>
            </a:xfrm>
            <a:custGeom>
              <a:avLst/>
              <a:gdLst/>
              <a:ahLst/>
              <a:cxnLst/>
              <a:rect l="l" t="t" r="r" b="b"/>
              <a:pathLst>
                <a:path w="5541430" h="812800">
                  <a:moveTo>
                    <a:pt x="0" y="0"/>
                  </a:moveTo>
                  <a:lnTo>
                    <a:pt x="5541430" y="0"/>
                  </a:lnTo>
                  <a:lnTo>
                    <a:pt x="5541430" y="812800"/>
                  </a:lnTo>
                  <a:lnTo>
                    <a:pt x="0" y="812800"/>
                  </a:lnTo>
                  <a:close/>
                </a:path>
              </a:pathLst>
            </a:custGeom>
            <a:solidFill>
              <a:srgbClr val="DAFFFB"/>
            </a:solidFill>
          </p:spPr>
        </p:sp>
        <p:sp>
          <p:nvSpPr>
            <p:cNvPr id="10" name="TextBox 10"/>
            <p:cNvSpPr txBox="1"/>
            <p:nvPr/>
          </p:nvSpPr>
          <p:spPr>
            <a:xfrm>
              <a:off x="0" y="-38100"/>
              <a:ext cx="5541430" cy="850900"/>
            </a:xfrm>
            <a:prstGeom prst="rect">
              <a:avLst/>
            </a:prstGeom>
          </p:spPr>
          <p:txBody>
            <a:bodyPr lIns="50800" tIns="50800" rIns="50800" bIns="50800" rtlCol="0" anchor="ctr"/>
            <a:lstStyle/>
            <a:p>
              <a:pPr algn="ctr">
                <a:lnSpc>
                  <a:spcPts val="3462"/>
                </a:lnSpc>
              </a:pPr>
              <a:endParaRPr/>
            </a:p>
          </p:txBody>
        </p:sp>
      </p:grpSp>
      <p:sp>
        <p:nvSpPr>
          <p:cNvPr id="11" name="TextBox 11"/>
          <p:cNvSpPr txBox="1"/>
          <p:nvPr/>
        </p:nvSpPr>
        <p:spPr>
          <a:xfrm>
            <a:off x="1133443" y="5277014"/>
            <a:ext cx="9635546" cy="2942652"/>
          </a:xfrm>
          <a:prstGeom prst="rect">
            <a:avLst/>
          </a:prstGeom>
        </p:spPr>
        <p:txBody>
          <a:bodyPr lIns="0" tIns="0" rIns="0" bIns="0" rtlCol="0" anchor="t">
            <a:spAutoFit/>
          </a:bodyPr>
          <a:lstStyle/>
          <a:p>
            <a:pPr algn="l">
              <a:lnSpc>
                <a:spcPts val="9448"/>
              </a:lnSpc>
            </a:pPr>
            <a:r>
              <a:rPr lang="en-US" sz="12597" b="1" spc="-440">
                <a:solidFill>
                  <a:srgbClr val="DAFFFB"/>
                </a:solidFill>
                <a:latin typeface="Helvetica World Bold"/>
                <a:ea typeface="Helvetica World Bold"/>
                <a:cs typeface="Helvetica World Bold"/>
                <a:sym typeface="Helvetica World Bold"/>
              </a:rPr>
              <a:t>Artificial Intelligence</a:t>
            </a:r>
          </a:p>
        </p:txBody>
      </p:sp>
      <p:sp>
        <p:nvSpPr>
          <p:cNvPr id="12" name="TextBox 12"/>
          <p:cNvSpPr txBox="1"/>
          <p:nvPr/>
        </p:nvSpPr>
        <p:spPr>
          <a:xfrm>
            <a:off x="1258176" y="8419691"/>
            <a:ext cx="10041727" cy="1250554"/>
          </a:xfrm>
          <a:prstGeom prst="rect">
            <a:avLst/>
          </a:prstGeom>
        </p:spPr>
        <p:txBody>
          <a:bodyPr lIns="0" tIns="0" rIns="0" bIns="0" rtlCol="0" anchor="t">
            <a:spAutoFit/>
          </a:bodyPr>
          <a:lstStyle/>
          <a:p>
            <a:pPr algn="just">
              <a:lnSpc>
                <a:spcPts val="5096"/>
              </a:lnSpc>
            </a:pPr>
            <a:r>
              <a:rPr lang="en-US" sz="3640" b="1">
                <a:solidFill>
                  <a:srgbClr val="FFFFFF"/>
                </a:solidFill>
                <a:latin typeface="Canva Sans Bold"/>
                <a:ea typeface="Canva Sans Bold"/>
                <a:cs typeface="Canva Sans Bold"/>
                <a:sym typeface="Canva Sans Bold"/>
              </a:rPr>
              <a:t>Shankheshkumar Ambaliya (CS22B005)</a:t>
            </a:r>
          </a:p>
          <a:p>
            <a:pPr algn="just">
              <a:lnSpc>
                <a:spcPts val="5096"/>
              </a:lnSpc>
            </a:pPr>
            <a:r>
              <a:rPr lang="en-US" sz="3640" b="1">
                <a:solidFill>
                  <a:srgbClr val="FFFFFF"/>
                </a:solidFill>
                <a:latin typeface="Canva Sans Bold"/>
                <a:ea typeface="Canva Sans Bold"/>
                <a:cs typeface="Canva Sans Bold"/>
                <a:sym typeface="Canva Sans Bold"/>
              </a:rPr>
              <a:t>Aakarsh Bansal (CS22B001)</a:t>
            </a:r>
          </a:p>
        </p:txBody>
      </p:sp>
      <p:sp>
        <p:nvSpPr>
          <p:cNvPr id="13" name="TextBox 13"/>
          <p:cNvSpPr txBox="1"/>
          <p:nvPr/>
        </p:nvSpPr>
        <p:spPr>
          <a:xfrm>
            <a:off x="1258176" y="3769327"/>
            <a:ext cx="3030151" cy="578308"/>
          </a:xfrm>
          <a:prstGeom prst="rect">
            <a:avLst/>
          </a:prstGeom>
        </p:spPr>
        <p:txBody>
          <a:bodyPr lIns="0" tIns="0" rIns="0" bIns="0" rtlCol="0" anchor="t">
            <a:spAutoFit/>
          </a:bodyPr>
          <a:lstStyle/>
          <a:p>
            <a:pPr algn="ctr">
              <a:lnSpc>
                <a:spcPts val="4747"/>
              </a:lnSpc>
            </a:pPr>
            <a:r>
              <a:rPr lang="en-US" sz="3390">
                <a:solidFill>
                  <a:srgbClr val="FFFFFF"/>
                </a:solidFill>
                <a:latin typeface="Canva Sans"/>
                <a:ea typeface="Canva Sans"/>
                <a:cs typeface="Canva Sans"/>
                <a:sym typeface="Canva Sans"/>
              </a:rPr>
              <a:t>Assignment-2</a:t>
            </a:r>
          </a:p>
        </p:txBody>
      </p:sp>
      <p:sp>
        <p:nvSpPr>
          <p:cNvPr id="14" name="Freeform 14"/>
          <p:cNvSpPr/>
          <p:nvPr/>
        </p:nvSpPr>
        <p:spPr>
          <a:xfrm>
            <a:off x="11299903" y="851141"/>
            <a:ext cx="5464491" cy="11325370"/>
          </a:xfrm>
          <a:custGeom>
            <a:avLst/>
            <a:gdLst/>
            <a:ahLst/>
            <a:cxnLst/>
            <a:rect l="l" t="t" r="r" b="b"/>
            <a:pathLst>
              <a:path w="5464491" h="11325370">
                <a:moveTo>
                  <a:pt x="0" y="0"/>
                </a:moveTo>
                <a:lnTo>
                  <a:pt x="5464491" y="0"/>
                </a:lnTo>
                <a:lnTo>
                  <a:pt x="5464491" y="11325370"/>
                </a:lnTo>
                <a:lnTo>
                  <a:pt x="0" y="11325370"/>
                </a:lnTo>
                <a:lnTo>
                  <a:pt x="0" y="0"/>
                </a:lnTo>
                <a:close/>
              </a:path>
            </a:pathLst>
          </a:custGeom>
          <a:blipFill>
            <a:blip r:embed="rId4"/>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0909"/>
        </a:solidFill>
        <a:effectLst/>
      </p:bgPr>
    </p:bg>
    <p:spTree>
      <p:nvGrpSpPr>
        <p:cNvPr id="1" name=""/>
        <p:cNvGrpSpPr/>
        <p:nvPr/>
      </p:nvGrpSpPr>
      <p:grpSpPr>
        <a:xfrm>
          <a:off x="0" y="0"/>
          <a:ext cx="0" cy="0"/>
          <a:chOff x="0" y="0"/>
          <a:chExt cx="0" cy="0"/>
        </a:xfrm>
      </p:grpSpPr>
      <p:grpSp>
        <p:nvGrpSpPr>
          <p:cNvPr id="2" name="Group 2"/>
          <p:cNvGrpSpPr/>
          <p:nvPr/>
        </p:nvGrpSpPr>
        <p:grpSpPr>
          <a:xfrm>
            <a:off x="-386085" y="-159421"/>
            <a:ext cx="19060169" cy="10605843"/>
            <a:chOff x="0" y="0"/>
            <a:chExt cx="25413559" cy="14141124"/>
          </a:xfrm>
        </p:grpSpPr>
        <p:sp>
          <p:nvSpPr>
            <p:cNvPr id="3" name="Freeform 3"/>
            <p:cNvSpPr/>
            <p:nvPr/>
          </p:nvSpPr>
          <p:spPr>
            <a:xfrm>
              <a:off x="0"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4">
                <a:alphaModFix amt="10999"/>
                <a:extLst>
                  <a:ext uri="{96DAC541-7B7A-43D3-8B79-37D633B846F1}">
                    <asvg:svgBlip xmlns:asvg="http://schemas.microsoft.com/office/drawing/2016/SVG/main" r:embed="rId5"/>
                  </a:ext>
                </a:extLst>
              </a:blip>
              <a:stretch>
                <a:fillRect/>
              </a:stretch>
            </a:blipFill>
          </p:spPr>
        </p:sp>
        <p:sp>
          <p:nvSpPr>
            <p:cNvPr id="4" name="Freeform 4"/>
            <p:cNvSpPr/>
            <p:nvPr/>
          </p:nvSpPr>
          <p:spPr>
            <a:xfrm>
              <a:off x="11272435"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4">
                <a:alphaModFix amt="10999"/>
                <a:extLst>
                  <a:ext uri="{96DAC541-7B7A-43D3-8B79-37D633B846F1}">
                    <asvg:svgBlip xmlns:asvg="http://schemas.microsoft.com/office/drawing/2016/SVG/main" r:embed="rId5"/>
                  </a:ext>
                </a:extLst>
              </a:blip>
              <a:stretch>
                <a:fillRect/>
              </a:stretch>
            </a:blipFill>
          </p:spPr>
        </p:sp>
      </p:grpSp>
      <p:grpSp>
        <p:nvGrpSpPr>
          <p:cNvPr id="5" name="Group 5"/>
          <p:cNvGrpSpPr/>
          <p:nvPr/>
        </p:nvGrpSpPr>
        <p:grpSpPr>
          <a:xfrm>
            <a:off x="-514350" y="9883238"/>
            <a:ext cx="21040117" cy="3086100"/>
            <a:chOff x="0" y="0"/>
            <a:chExt cx="5541430" cy="812800"/>
          </a:xfrm>
        </p:grpSpPr>
        <p:sp>
          <p:nvSpPr>
            <p:cNvPr id="6" name="Freeform 6"/>
            <p:cNvSpPr/>
            <p:nvPr/>
          </p:nvSpPr>
          <p:spPr>
            <a:xfrm>
              <a:off x="0" y="0"/>
              <a:ext cx="5541430" cy="812800"/>
            </a:xfrm>
            <a:custGeom>
              <a:avLst/>
              <a:gdLst/>
              <a:ahLst/>
              <a:cxnLst/>
              <a:rect l="l" t="t" r="r" b="b"/>
              <a:pathLst>
                <a:path w="5541430" h="812800">
                  <a:moveTo>
                    <a:pt x="0" y="0"/>
                  </a:moveTo>
                  <a:lnTo>
                    <a:pt x="5541430" y="0"/>
                  </a:lnTo>
                  <a:lnTo>
                    <a:pt x="5541430" y="812800"/>
                  </a:lnTo>
                  <a:lnTo>
                    <a:pt x="0" y="812800"/>
                  </a:lnTo>
                  <a:close/>
                </a:path>
              </a:pathLst>
            </a:custGeom>
            <a:solidFill>
              <a:srgbClr val="DAFFFB"/>
            </a:solidFill>
          </p:spPr>
        </p:sp>
        <p:sp>
          <p:nvSpPr>
            <p:cNvPr id="7" name="TextBox 7"/>
            <p:cNvSpPr txBox="1"/>
            <p:nvPr/>
          </p:nvSpPr>
          <p:spPr>
            <a:xfrm>
              <a:off x="0" y="-38100"/>
              <a:ext cx="5541430" cy="850900"/>
            </a:xfrm>
            <a:prstGeom prst="rect">
              <a:avLst/>
            </a:prstGeom>
          </p:spPr>
          <p:txBody>
            <a:bodyPr lIns="50800" tIns="50800" rIns="50800" bIns="50800" rtlCol="0" anchor="ctr"/>
            <a:lstStyle/>
            <a:p>
              <a:pPr algn="ctr">
                <a:lnSpc>
                  <a:spcPts val="3462"/>
                </a:lnSpc>
              </a:pPr>
              <a:endParaRPr/>
            </a:p>
          </p:txBody>
        </p:sp>
      </p:grpSp>
      <p:pic>
        <p:nvPicPr>
          <p:cNvPr id="8" name="Picture 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rcRect/>
          <a:stretch>
            <a:fillRect/>
          </a:stretch>
        </p:blipFill>
        <p:spPr>
          <a:xfrm>
            <a:off x="11039614" y="2194436"/>
            <a:ext cx="6219686" cy="5608915"/>
          </a:xfrm>
          <a:prstGeom prst="rect">
            <a:avLst/>
          </a:prstGeom>
        </p:spPr>
      </p:pic>
      <p:sp>
        <p:nvSpPr>
          <p:cNvPr id="9" name="TextBox 9"/>
          <p:cNvSpPr txBox="1"/>
          <p:nvPr/>
        </p:nvSpPr>
        <p:spPr>
          <a:xfrm>
            <a:off x="1028700" y="5363183"/>
            <a:ext cx="9323603" cy="2033422"/>
          </a:xfrm>
          <a:prstGeom prst="rect">
            <a:avLst/>
          </a:prstGeom>
        </p:spPr>
        <p:txBody>
          <a:bodyPr lIns="0" tIns="0" rIns="0" bIns="0" rtlCol="0" anchor="t">
            <a:spAutoFit/>
          </a:bodyPr>
          <a:lstStyle/>
          <a:p>
            <a:pPr algn="l">
              <a:lnSpc>
                <a:spcPts val="2336"/>
              </a:lnSpc>
            </a:pPr>
            <a:r>
              <a:rPr lang="en-US" sz="2540" b="1" spc="-88">
                <a:solidFill>
                  <a:srgbClr val="DAFFFB"/>
                </a:solidFill>
                <a:latin typeface="Helvetica World Bold"/>
                <a:ea typeface="Helvetica World Bold"/>
                <a:cs typeface="Helvetica World Bold"/>
                <a:sym typeface="Helvetica World Bold"/>
              </a:rPr>
              <a:t>The code uses Branch and Bound without a heuristic, exploring paths by increasing cost, but fails due to incorrect state transitions using a single environment instance. Its performance is unreliable on FrozenLake unless made deterministic (is_slippery=False) and corrected to simulate transitions properly</a:t>
            </a:r>
          </a:p>
        </p:txBody>
      </p:sp>
      <p:sp>
        <p:nvSpPr>
          <p:cNvPr id="10" name="TextBox 10"/>
          <p:cNvSpPr txBox="1"/>
          <p:nvPr/>
        </p:nvSpPr>
        <p:spPr>
          <a:xfrm>
            <a:off x="1028700" y="2486170"/>
            <a:ext cx="9323603" cy="2226812"/>
          </a:xfrm>
          <a:prstGeom prst="rect">
            <a:avLst/>
          </a:prstGeom>
        </p:spPr>
        <p:txBody>
          <a:bodyPr lIns="0" tIns="0" rIns="0" bIns="0" rtlCol="0" anchor="t">
            <a:spAutoFit/>
          </a:bodyPr>
          <a:lstStyle/>
          <a:p>
            <a:pPr algn="l">
              <a:lnSpc>
                <a:spcPts val="3549"/>
              </a:lnSpc>
            </a:pPr>
            <a:r>
              <a:rPr lang="en-US" sz="2535">
                <a:solidFill>
                  <a:srgbClr val="FFFFFF"/>
                </a:solidFill>
                <a:latin typeface="Canva Sans"/>
                <a:ea typeface="Canva Sans"/>
                <a:cs typeface="Canva Sans"/>
                <a:sym typeface="Canva Sans"/>
              </a:rPr>
              <a:t>The Branch and Bound algorithm does not use a heuristic function — it is a uniform-cost search strategy. That means:</a:t>
            </a:r>
          </a:p>
          <a:p>
            <a:pPr marL="547441" lvl="1" indent="-273720" algn="l">
              <a:lnSpc>
                <a:spcPts val="3549"/>
              </a:lnSpc>
              <a:buFont typeface="Arial"/>
              <a:buChar char="•"/>
            </a:pPr>
            <a:r>
              <a:rPr lang="en-US" sz="2535">
                <a:solidFill>
                  <a:srgbClr val="FFFFFF"/>
                </a:solidFill>
                <a:latin typeface="Canva Sans"/>
                <a:ea typeface="Canva Sans"/>
                <a:cs typeface="Canva Sans"/>
                <a:sym typeface="Canva Sans"/>
              </a:rPr>
              <a:t>It explores paths in order of their cost from the start.</a:t>
            </a:r>
          </a:p>
          <a:p>
            <a:pPr marL="547441" lvl="1" indent="-273720" algn="l">
              <a:lnSpc>
                <a:spcPts val="3549"/>
              </a:lnSpc>
              <a:buFont typeface="Arial"/>
              <a:buChar char="•"/>
            </a:pPr>
            <a:r>
              <a:rPr lang="en-US" sz="2535">
                <a:solidFill>
                  <a:srgbClr val="FFFFFF"/>
                </a:solidFill>
                <a:latin typeface="Canva Sans"/>
                <a:ea typeface="Canva Sans"/>
                <a:cs typeface="Canva Sans"/>
                <a:sym typeface="Canva Sans"/>
              </a:rPr>
              <a:t>It does not estimate the remaining cost to the goal.</a:t>
            </a:r>
          </a:p>
          <a:p>
            <a:pPr algn="l">
              <a:lnSpc>
                <a:spcPts val="3549"/>
              </a:lnSpc>
            </a:pPr>
            <a:endParaRPr lang="en-US" sz="2535">
              <a:solidFill>
                <a:srgbClr val="FFFFFF"/>
              </a:solidFill>
              <a:latin typeface="Canva Sans"/>
              <a:ea typeface="Canva Sans"/>
              <a:cs typeface="Canva Sans"/>
              <a:sym typeface="Canva Sans"/>
            </a:endParaRPr>
          </a:p>
        </p:txBody>
      </p:sp>
      <p:sp>
        <p:nvSpPr>
          <p:cNvPr id="11" name="TextBox 11"/>
          <p:cNvSpPr txBox="1"/>
          <p:nvPr/>
        </p:nvSpPr>
        <p:spPr>
          <a:xfrm>
            <a:off x="5281031" y="457200"/>
            <a:ext cx="7725938" cy="1028700"/>
          </a:xfrm>
          <a:prstGeom prst="rect">
            <a:avLst/>
          </a:prstGeom>
        </p:spPr>
        <p:txBody>
          <a:bodyPr lIns="0" tIns="0" rIns="0" bIns="0" rtlCol="0" anchor="t">
            <a:spAutoFit/>
          </a:bodyPr>
          <a:lstStyle/>
          <a:p>
            <a:pPr algn="ctr">
              <a:lnSpc>
                <a:spcPts val="8400"/>
              </a:lnSpc>
              <a:spcBef>
                <a:spcPct val="0"/>
              </a:spcBef>
            </a:pPr>
            <a:r>
              <a:rPr lang="en-US" sz="6000" b="1">
                <a:solidFill>
                  <a:srgbClr val="FFFFFF"/>
                </a:solidFill>
                <a:latin typeface="Canva Sans Bold"/>
                <a:ea typeface="Canva Sans Bold"/>
                <a:cs typeface="Canva Sans Bold"/>
                <a:sym typeface="Canva Sans Bold"/>
              </a:rPr>
              <a:t>Branch and Bound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4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0909"/>
        </a:solidFill>
        <a:effectLst/>
      </p:bgPr>
    </p:bg>
    <p:spTree>
      <p:nvGrpSpPr>
        <p:cNvPr id="1" name=""/>
        <p:cNvGrpSpPr/>
        <p:nvPr/>
      </p:nvGrpSpPr>
      <p:grpSpPr>
        <a:xfrm>
          <a:off x="0" y="0"/>
          <a:ext cx="0" cy="0"/>
          <a:chOff x="0" y="0"/>
          <a:chExt cx="0" cy="0"/>
        </a:xfrm>
      </p:grpSpPr>
      <p:grpSp>
        <p:nvGrpSpPr>
          <p:cNvPr id="2" name="Group 2"/>
          <p:cNvGrpSpPr/>
          <p:nvPr/>
        </p:nvGrpSpPr>
        <p:grpSpPr>
          <a:xfrm>
            <a:off x="-386085" y="-159421"/>
            <a:ext cx="19060169" cy="10605843"/>
            <a:chOff x="0" y="0"/>
            <a:chExt cx="25413559" cy="14141124"/>
          </a:xfrm>
        </p:grpSpPr>
        <p:sp>
          <p:nvSpPr>
            <p:cNvPr id="3" name="Freeform 3"/>
            <p:cNvSpPr/>
            <p:nvPr/>
          </p:nvSpPr>
          <p:spPr>
            <a:xfrm>
              <a:off x="0"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4">
                <a:alphaModFix amt="10999"/>
                <a:extLst>
                  <a:ext uri="{96DAC541-7B7A-43D3-8B79-37D633B846F1}">
                    <asvg:svgBlip xmlns:asvg="http://schemas.microsoft.com/office/drawing/2016/SVG/main" r:embed="rId5"/>
                  </a:ext>
                </a:extLst>
              </a:blip>
              <a:stretch>
                <a:fillRect/>
              </a:stretch>
            </a:blipFill>
          </p:spPr>
        </p:sp>
        <p:sp>
          <p:nvSpPr>
            <p:cNvPr id="4" name="Freeform 4"/>
            <p:cNvSpPr/>
            <p:nvPr/>
          </p:nvSpPr>
          <p:spPr>
            <a:xfrm>
              <a:off x="11272435"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4">
                <a:alphaModFix amt="10999"/>
                <a:extLst>
                  <a:ext uri="{96DAC541-7B7A-43D3-8B79-37D633B846F1}">
                    <asvg:svgBlip xmlns:asvg="http://schemas.microsoft.com/office/drawing/2016/SVG/main" r:embed="rId5"/>
                  </a:ext>
                </a:extLst>
              </a:blip>
              <a:stretch>
                <a:fillRect/>
              </a:stretch>
            </a:blipFill>
          </p:spPr>
        </p:sp>
      </p:grpSp>
      <p:grpSp>
        <p:nvGrpSpPr>
          <p:cNvPr id="5" name="Group 5"/>
          <p:cNvGrpSpPr/>
          <p:nvPr/>
        </p:nvGrpSpPr>
        <p:grpSpPr>
          <a:xfrm>
            <a:off x="8067866" y="2059959"/>
            <a:ext cx="9124043" cy="2696807"/>
            <a:chOff x="0" y="0"/>
            <a:chExt cx="2910122" cy="860149"/>
          </a:xfrm>
        </p:grpSpPr>
        <p:sp>
          <p:nvSpPr>
            <p:cNvPr id="6" name="Freeform 6"/>
            <p:cNvSpPr/>
            <p:nvPr/>
          </p:nvSpPr>
          <p:spPr>
            <a:xfrm>
              <a:off x="0" y="0"/>
              <a:ext cx="2910122" cy="860149"/>
            </a:xfrm>
            <a:custGeom>
              <a:avLst/>
              <a:gdLst/>
              <a:ahLst/>
              <a:cxnLst/>
              <a:rect l="l" t="t" r="r" b="b"/>
              <a:pathLst>
                <a:path w="2910122" h="860149">
                  <a:moveTo>
                    <a:pt x="43274" y="0"/>
                  </a:moveTo>
                  <a:lnTo>
                    <a:pt x="2866847" y="0"/>
                  </a:lnTo>
                  <a:cubicBezTo>
                    <a:pt x="2890747" y="0"/>
                    <a:pt x="2910122" y="19375"/>
                    <a:pt x="2910122" y="43274"/>
                  </a:cubicBezTo>
                  <a:lnTo>
                    <a:pt x="2910122" y="816875"/>
                  </a:lnTo>
                  <a:cubicBezTo>
                    <a:pt x="2910122" y="840775"/>
                    <a:pt x="2890747" y="860149"/>
                    <a:pt x="2866847" y="860149"/>
                  </a:cubicBezTo>
                  <a:lnTo>
                    <a:pt x="43274" y="860149"/>
                  </a:lnTo>
                  <a:cubicBezTo>
                    <a:pt x="19375" y="860149"/>
                    <a:pt x="0" y="840775"/>
                    <a:pt x="0" y="816875"/>
                  </a:cubicBezTo>
                  <a:lnTo>
                    <a:pt x="0" y="43274"/>
                  </a:lnTo>
                  <a:cubicBezTo>
                    <a:pt x="0" y="19375"/>
                    <a:pt x="19375" y="0"/>
                    <a:pt x="43274" y="0"/>
                  </a:cubicBezTo>
                  <a:close/>
                </a:path>
              </a:pathLst>
            </a:custGeom>
            <a:solidFill>
              <a:srgbClr val="000000">
                <a:alpha val="0"/>
              </a:srgbClr>
            </a:solidFill>
            <a:ln w="19050" cap="rnd">
              <a:solidFill>
                <a:srgbClr val="FFFFFF"/>
              </a:solidFill>
              <a:prstDash val="solid"/>
              <a:round/>
            </a:ln>
          </p:spPr>
        </p:sp>
        <p:sp>
          <p:nvSpPr>
            <p:cNvPr id="7" name="TextBox 7"/>
            <p:cNvSpPr txBox="1"/>
            <p:nvPr/>
          </p:nvSpPr>
          <p:spPr>
            <a:xfrm>
              <a:off x="0" y="-47625"/>
              <a:ext cx="2910122" cy="907774"/>
            </a:xfrm>
            <a:prstGeom prst="rect">
              <a:avLst/>
            </a:prstGeom>
          </p:spPr>
          <p:txBody>
            <a:bodyPr lIns="50800" tIns="50800" rIns="50800" bIns="50800" rtlCol="0" anchor="ctr"/>
            <a:lstStyle/>
            <a:p>
              <a:pPr algn="ctr">
                <a:lnSpc>
                  <a:spcPts val="3669"/>
                </a:lnSpc>
              </a:pPr>
              <a:endParaRPr/>
            </a:p>
          </p:txBody>
        </p:sp>
      </p:grpSp>
      <p:grpSp>
        <p:nvGrpSpPr>
          <p:cNvPr id="8" name="Group 8"/>
          <p:cNvGrpSpPr/>
          <p:nvPr/>
        </p:nvGrpSpPr>
        <p:grpSpPr>
          <a:xfrm>
            <a:off x="-514350" y="9883238"/>
            <a:ext cx="21040117" cy="3086100"/>
            <a:chOff x="0" y="0"/>
            <a:chExt cx="5541430" cy="812800"/>
          </a:xfrm>
        </p:grpSpPr>
        <p:sp>
          <p:nvSpPr>
            <p:cNvPr id="9" name="Freeform 9"/>
            <p:cNvSpPr/>
            <p:nvPr/>
          </p:nvSpPr>
          <p:spPr>
            <a:xfrm>
              <a:off x="0" y="0"/>
              <a:ext cx="5541430" cy="812800"/>
            </a:xfrm>
            <a:custGeom>
              <a:avLst/>
              <a:gdLst/>
              <a:ahLst/>
              <a:cxnLst/>
              <a:rect l="l" t="t" r="r" b="b"/>
              <a:pathLst>
                <a:path w="5541430" h="812800">
                  <a:moveTo>
                    <a:pt x="0" y="0"/>
                  </a:moveTo>
                  <a:lnTo>
                    <a:pt x="5541430" y="0"/>
                  </a:lnTo>
                  <a:lnTo>
                    <a:pt x="5541430" y="812800"/>
                  </a:lnTo>
                  <a:lnTo>
                    <a:pt x="0" y="812800"/>
                  </a:lnTo>
                  <a:close/>
                </a:path>
              </a:pathLst>
            </a:custGeom>
            <a:solidFill>
              <a:srgbClr val="DAFFFB"/>
            </a:solidFill>
          </p:spPr>
        </p:sp>
        <p:sp>
          <p:nvSpPr>
            <p:cNvPr id="10" name="TextBox 10"/>
            <p:cNvSpPr txBox="1"/>
            <p:nvPr/>
          </p:nvSpPr>
          <p:spPr>
            <a:xfrm>
              <a:off x="0" y="-38100"/>
              <a:ext cx="5541430" cy="850900"/>
            </a:xfrm>
            <a:prstGeom prst="rect">
              <a:avLst/>
            </a:prstGeom>
          </p:spPr>
          <p:txBody>
            <a:bodyPr lIns="50800" tIns="50800" rIns="50800" bIns="50800" rtlCol="0" anchor="ctr"/>
            <a:lstStyle/>
            <a:p>
              <a:pPr algn="ctr">
                <a:lnSpc>
                  <a:spcPts val="3462"/>
                </a:lnSpc>
              </a:pPr>
              <a:endParaRPr/>
            </a:p>
          </p:txBody>
        </p:sp>
      </p:grpSp>
      <p:pic>
        <p:nvPicPr>
          <p:cNvPr id="11" name="Picture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rcRect/>
          <a:stretch>
            <a:fillRect/>
          </a:stretch>
        </p:blipFill>
        <p:spPr>
          <a:xfrm>
            <a:off x="741518" y="3671965"/>
            <a:ext cx="6889458" cy="2943070"/>
          </a:xfrm>
          <a:prstGeom prst="rect">
            <a:avLst/>
          </a:prstGeom>
        </p:spPr>
      </p:pic>
      <p:sp>
        <p:nvSpPr>
          <p:cNvPr id="12" name="TextBox 12"/>
          <p:cNvSpPr txBox="1"/>
          <p:nvPr/>
        </p:nvSpPr>
        <p:spPr>
          <a:xfrm>
            <a:off x="8491486" y="2225515"/>
            <a:ext cx="3211328" cy="422275"/>
          </a:xfrm>
          <a:prstGeom prst="rect">
            <a:avLst/>
          </a:prstGeom>
        </p:spPr>
        <p:txBody>
          <a:bodyPr lIns="0" tIns="0" rIns="0" bIns="0" rtlCol="0" anchor="t">
            <a:spAutoFit/>
          </a:bodyPr>
          <a:lstStyle/>
          <a:p>
            <a:pPr algn="l">
              <a:lnSpc>
                <a:spcPts val="3499"/>
              </a:lnSpc>
            </a:pPr>
            <a:r>
              <a:rPr lang="en-US" sz="2499" b="1">
                <a:solidFill>
                  <a:srgbClr val="FFFFFF"/>
                </a:solidFill>
                <a:latin typeface="Canva Sans Bold"/>
                <a:ea typeface="Canva Sans Bold"/>
                <a:cs typeface="Canva Sans Bold"/>
                <a:sym typeface="Canva Sans Bold"/>
              </a:rPr>
              <a:t>Algorithm</a:t>
            </a:r>
          </a:p>
        </p:txBody>
      </p:sp>
      <p:sp>
        <p:nvSpPr>
          <p:cNvPr id="13" name="TextBox 13"/>
          <p:cNvSpPr txBox="1"/>
          <p:nvPr/>
        </p:nvSpPr>
        <p:spPr>
          <a:xfrm>
            <a:off x="8491486" y="2708963"/>
            <a:ext cx="8461553" cy="1620312"/>
          </a:xfrm>
          <a:prstGeom prst="rect">
            <a:avLst/>
          </a:prstGeom>
        </p:spPr>
        <p:txBody>
          <a:bodyPr lIns="0" tIns="0" rIns="0" bIns="0" rtlCol="0" anchor="t">
            <a:spAutoFit/>
          </a:bodyPr>
          <a:lstStyle/>
          <a:p>
            <a:pPr algn="l">
              <a:lnSpc>
                <a:spcPts val="3233"/>
              </a:lnSpc>
            </a:pPr>
            <a:r>
              <a:rPr lang="en-US" sz="2309">
                <a:solidFill>
                  <a:srgbClr val="FFFFFF"/>
                </a:solidFill>
                <a:latin typeface="Canva Sans"/>
                <a:ea typeface="Canva Sans"/>
                <a:cs typeface="Canva Sans"/>
                <a:sym typeface="Canva Sans"/>
              </a:rPr>
              <a:t>The code uses IDA* with a simple Manhattan distance heuristic to solve Taxi-v3 optimally.</a:t>
            </a:r>
          </a:p>
          <a:p>
            <a:pPr algn="l">
              <a:lnSpc>
                <a:spcPts val="3233"/>
              </a:lnSpc>
            </a:pPr>
            <a:r>
              <a:rPr lang="en-US" sz="2309">
                <a:solidFill>
                  <a:srgbClr val="FFFFFF"/>
                </a:solidFill>
                <a:latin typeface="Canva Sans"/>
                <a:ea typeface="Canva Sans"/>
                <a:cs typeface="Canva Sans"/>
                <a:sym typeface="Canva Sans"/>
              </a:rPr>
              <a:t> It performs depth-limited search iteratively, refining the bound until the goal is found.</a:t>
            </a:r>
          </a:p>
        </p:txBody>
      </p:sp>
      <p:grpSp>
        <p:nvGrpSpPr>
          <p:cNvPr id="14" name="Group 14"/>
          <p:cNvGrpSpPr/>
          <p:nvPr/>
        </p:nvGrpSpPr>
        <p:grpSpPr>
          <a:xfrm>
            <a:off x="8067866" y="5330825"/>
            <a:ext cx="9124043" cy="4131454"/>
            <a:chOff x="0" y="0"/>
            <a:chExt cx="12165391" cy="5508605"/>
          </a:xfrm>
        </p:grpSpPr>
        <p:grpSp>
          <p:nvGrpSpPr>
            <p:cNvPr id="15" name="Group 15"/>
            <p:cNvGrpSpPr/>
            <p:nvPr/>
          </p:nvGrpSpPr>
          <p:grpSpPr>
            <a:xfrm>
              <a:off x="0" y="0"/>
              <a:ext cx="12165391" cy="5508605"/>
              <a:chOff x="0" y="0"/>
              <a:chExt cx="2910122" cy="1317731"/>
            </a:xfrm>
          </p:grpSpPr>
          <p:sp>
            <p:nvSpPr>
              <p:cNvPr id="16" name="Freeform 16"/>
              <p:cNvSpPr/>
              <p:nvPr/>
            </p:nvSpPr>
            <p:spPr>
              <a:xfrm>
                <a:off x="0" y="0"/>
                <a:ext cx="2910122" cy="1317731"/>
              </a:xfrm>
              <a:custGeom>
                <a:avLst/>
                <a:gdLst/>
                <a:ahLst/>
                <a:cxnLst/>
                <a:rect l="l" t="t" r="r" b="b"/>
                <a:pathLst>
                  <a:path w="2910122" h="1317731">
                    <a:moveTo>
                      <a:pt x="43274" y="0"/>
                    </a:moveTo>
                    <a:lnTo>
                      <a:pt x="2866847" y="0"/>
                    </a:lnTo>
                    <a:cubicBezTo>
                      <a:pt x="2890747" y="0"/>
                      <a:pt x="2910122" y="19375"/>
                      <a:pt x="2910122" y="43274"/>
                    </a:cubicBezTo>
                    <a:lnTo>
                      <a:pt x="2910122" y="1274457"/>
                    </a:lnTo>
                    <a:cubicBezTo>
                      <a:pt x="2910122" y="1298356"/>
                      <a:pt x="2890747" y="1317731"/>
                      <a:pt x="2866847" y="1317731"/>
                    </a:cubicBezTo>
                    <a:lnTo>
                      <a:pt x="43274" y="1317731"/>
                    </a:lnTo>
                    <a:cubicBezTo>
                      <a:pt x="19375" y="1317731"/>
                      <a:pt x="0" y="1298356"/>
                      <a:pt x="0" y="1274457"/>
                    </a:cubicBezTo>
                    <a:lnTo>
                      <a:pt x="0" y="43274"/>
                    </a:lnTo>
                    <a:cubicBezTo>
                      <a:pt x="0" y="19375"/>
                      <a:pt x="19375" y="0"/>
                      <a:pt x="43274" y="0"/>
                    </a:cubicBezTo>
                    <a:close/>
                  </a:path>
                </a:pathLst>
              </a:custGeom>
              <a:solidFill>
                <a:srgbClr val="000000">
                  <a:alpha val="0"/>
                </a:srgbClr>
              </a:solidFill>
              <a:ln w="19050" cap="rnd">
                <a:solidFill>
                  <a:srgbClr val="FFFFFF"/>
                </a:solidFill>
                <a:prstDash val="solid"/>
                <a:round/>
              </a:ln>
            </p:spPr>
          </p:sp>
          <p:sp>
            <p:nvSpPr>
              <p:cNvPr id="17" name="TextBox 17"/>
              <p:cNvSpPr txBox="1"/>
              <p:nvPr/>
            </p:nvSpPr>
            <p:spPr>
              <a:xfrm>
                <a:off x="0" y="-47625"/>
                <a:ext cx="2910122" cy="1365356"/>
              </a:xfrm>
              <a:prstGeom prst="rect">
                <a:avLst/>
              </a:prstGeom>
            </p:spPr>
            <p:txBody>
              <a:bodyPr lIns="50800" tIns="50800" rIns="50800" bIns="50800" rtlCol="0" anchor="ctr"/>
              <a:lstStyle/>
              <a:p>
                <a:pPr algn="ctr">
                  <a:lnSpc>
                    <a:spcPts val="3669"/>
                  </a:lnSpc>
                </a:pPr>
                <a:endParaRPr/>
              </a:p>
            </p:txBody>
          </p:sp>
        </p:grpSp>
        <p:sp>
          <p:nvSpPr>
            <p:cNvPr id="18" name="TextBox 18"/>
            <p:cNvSpPr txBox="1"/>
            <p:nvPr/>
          </p:nvSpPr>
          <p:spPr>
            <a:xfrm>
              <a:off x="564826" y="311224"/>
              <a:ext cx="4037928" cy="547158"/>
            </a:xfrm>
            <a:prstGeom prst="rect">
              <a:avLst/>
            </a:prstGeom>
          </p:spPr>
          <p:txBody>
            <a:bodyPr lIns="0" tIns="0" rIns="0" bIns="0" rtlCol="0" anchor="t">
              <a:spAutoFit/>
            </a:bodyPr>
            <a:lstStyle/>
            <a:p>
              <a:pPr algn="l">
                <a:lnSpc>
                  <a:spcPts val="3499"/>
                </a:lnSpc>
              </a:pPr>
              <a:r>
                <a:rPr lang="en-US" sz="2499" b="1">
                  <a:solidFill>
                    <a:srgbClr val="FFFFFF"/>
                  </a:solidFill>
                  <a:latin typeface="Canva Sans Bold"/>
                  <a:ea typeface="Canva Sans Bold"/>
                  <a:cs typeface="Canva Sans Bold"/>
                  <a:sym typeface="Canva Sans Bold"/>
                </a:rPr>
                <a:t>Heuristic Function</a:t>
              </a:r>
            </a:p>
          </p:txBody>
        </p:sp>
        <p:sp>
          <p:nvSpPr>
            <p:cNvPr id="19" name="TextBox 19"/>
            <p:cNvSpPr txBox="1"/>
            <p:nvPr/>
          </p:nvSpPr>
          <p:spPr>
            <a:xfrm>
              <a:off x="564826" y="1286615"/>
              <a:ext cx="11282071" cy="3775901"/>
            </a:xfrm>
            <a:prstGeom prst="rect">
              <a:avLst/>
            </a:prstGeom>
          </p:spPr>
          <p:txBody>
            <a:bodyPr lIns="0" tIns="0" rIns="0" bIns="0" rtlCol="0" anchor="t">
              <a:spAutoFit/>
            </a:bodyPr>
            <a:lstStyle/>
            <a:p>
              <a:pPr algn="l">
                <a:lnSpc>
                  <a:spcPts val="3233"/>
                </a:lnSpc>
              </a:pPr>
              <a:r>
                <a:rPr lang="en-US" sz="2309">
                  <a:solidFill>
                    <a:srgbClr val="FFFFFF"/>
                  </a:solidFill>
                  <a:latin typeface="Canva Sans"/>
                  <a:ea typeface="Canva Sans"/>
                  <a:cs typeface="Canva Sans"/>
                  <a:sym typeface="Canva Sans"/>
                </a:rPr>
                <a:t>The heuristic estimates the cost to the goal using Manhattan distance between the taxi's current position and the destination.</a:t>
              </a:r>
            </a:p>
            <a:p>
              <a:pPr algn="l">
                <a:lnSpc>
                  <a:spcPts val="3233"/>
                </a:lnSpc>
              </a:pPr>
              <a:r>
                <a:rPr lang="en-US" sz="2309">
                  <a:solidFill>
                    <a:srgbClr val="FFFFFF"/>
                  </a:solidFill>
                  <a:latin typeface="Canva Sans"/>
                  <a:ea typeface="Canva Sans"/>
                  <a:cs typeface="Canva Sans"/>
                  <a:sym typeface="Canva Sans"/>
                </a:rPr>
                <a:t> It ignores walls, passenger status, and assumes direct movement, making it admissible but not always accurate.</a:t>
              </a:r>
            </a:p>
            <a:p>
              <a:pPr algn="l">
                <a:lnSpc>
                  <a:spcPts val="3233"/>
                </a:lnSpc>
              </a:pPr>
              <a:r>
                <a:rPr lang="en-US" sz="2309">
                  <a:solidFill>
                    <a:srgbClr val="FFFFFF"/>
                  </a:solidFill>
                  <a:latin typeface="Canva Sans"/>
                  <a:ea typeface="Canva Sans"/>
                  <a:cs typeface="Canva Sans"/>
                  <a:sym typeface="Canva Sans"/>
                </a:rPr>
                <a:t> This helps guide the IDA* search toward the destination efficiently, without overestimating cost.</a:t>
              </a:r>
            </a:p>
          </p:txBody>
        </p:sp>
      </p:grpSp>
      <p:sp>
        <p:nvSpPr>
          <p:cNvPr id="20" name="TextBox 20"/>
          <p:cNvSpPr txBox="1"/>
          <p:nvPr/>
        </p:nvSpPr>
        <p:spPr>
          <a:xfrm>
            <a:off x="5281031" y="457200"/>
            <a:ext cx="7725938" cy="1028700"/>
          </a:xfrm>
          <a:prstGeom prst="rect">
            <a:avLst/>
          </a:prstGeom>
        </p:spPr>
        <p:txBody>
          <a:bodyPr lIns="0" tIns="0" rIns="0" bIns="0" rtlCol="0" anchor="t">
            <a:spAutoFit/>
          </a:bodyPr>
          <a:lstStyle/>
          <a:p>
            <a:pPr algn="ctr">
              <a:lnSpc>
                <a:spcPts val="8400"/>
              </a:lnSpc>
              <a:spcBef>
                <a:spcPct val="0"/>
              </a:spcBef>
            </a:pPr>
            <a:r>
              <a:rPr lang="en-US" sz="6000" b="1">
                <a:solidFill>
                  <a:srgbClr val="FFFFFF"/>
                </a:solidFill>
                <a:latin typeface="Canva Sans Bold"/>
                <a:ea typeface="Canva Sans Bold"/>
                <a:cs typeface="Canva Sans Bold"/>
                <a:sym typeface="Canva Sans Bold"/>
              </a:rPr>
              <a:t>IDA*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9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0909"/>
        </a:solidFill>
        <a:effectLst/>
      </p:bgPr>
    </p:bg>
    <p:spTree>
      <p:nvGrpSpPr>
        <p:cNvPr id="1" name=""/>
        <p:cNvGrpSpPr/>
        <p:nvPr/>
      </p:nvGrpSpPr>
      <p:grpSpPr>
        <a:xfrm>
          <a:off x="0" y="0"/>
          <a:ext cx="0" cy="0"/>
          <a:chOff x="0" y="0"/>
          <a:chExt cx="0" cy="0"/>
        </a:xfrm>
      </p:grpSpPr>
      <p:grpSp>
        <p:nvGrpSpPr>
          <p:cNvPr id="2" name="Group 2"/>
          <p:cNvGrpSpPr/>
          <p:nvPr/>
        </p:nvGrpSpPr>
        <p:grpSpPr>
          <a:xfrm>
            <a:off x="-386085" y="-159421"/>
            <a:ext cx="19060169" cy="10605843"/>
            <a:chOff x="0" y="0"/>
            <a:chExt cx="25413559" cy="14141124"/>
          </a:xfrm>
        </p:grpSpPr>
        <p:sp>
          <p:nvSpPr>
            <p:cNvPr id="3" name="Freeform 3"/>
            <p:cNvSpPr/>
            <p:nvPr/>
          </p:nvSpPr>
          <p:spPr>
            <a:xfrm>
              <a:off x="0"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4">
                <a:alphaModFix amt="10999"/>
                <a:extLst>
                  <a:ext uri="{96DAC541-7B7A-43D3-8B79-37D633B846F1}">
                    <asvg:svgBlip xmlns:asvg="http://schemas.microsoft.com/office/drawing/2016/SVG/main" r:embed="rId5"/>
                  </a:ext>
                </a:extLst>
              </a:blip>
              <a:stretch>
                <a:fillRect/>
              </a:stretch>
            </a:blipFill>
          </p:spPr>
        </p:sp>
        <p:sp>
          <p:nvSpPr>
            <p:cNvPr id="4" name="Freeform 4"/>
            <p:cNvSpPr/>
            <p:nvPr/>
          </p:nvSpPr>
          <p:spPr>
            <a:xfrm>
              <a:off x="11272435"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4">
                <a:alphaModFix amt="10999"/>
                <a:extLst>
                  <a:ext uri="{96DAC541-7B7A-43D3-8B79-37D633B846F1}">
                    <asvg:svgBlip xmlns:asvg="http://schemas.microsoft.com/office/drawing/2016/SVG/main" r:embed="rId5"/>
                  </a:ext>
                </a:extLst>
              </a:blip>
              <a:stretch>
                <a:fillRect/>
              </a:stretch>
            </a:blipFill>
          </p:spPr>
        </p:sp>
      </p:grpSp>
      <p:grpSp>
        <p:nvGrpSpPr>
          <p:cNvPr id="5" name="Group 5"/>
          <p:cNvGrpSpPr/>
          <p:nvPr/>
        </p:nvGrpSpPr>
        <p:grpSpPr>
          <a:xfrm>
            <a:off x="-514350" y="9883238"/>
            <a:ext cx="21040117" cy="3086100"/>
            <a:chOff x="0" y="0"/>
            <a:chExt cx="5541430" cy="812800"/>
          </a:xfrm>
        </p:grpSpPr>
        <p:sp>
          <p:nvSpPr>
            <p:cNvPr id="6" name="Freeform 6"/>
            <p:cNvSpPr/>
            <p:nvPr/>
          </p:nvSpPr>
          <p:spPr>
            <a:xfrm>
              <a:off x="0" y="0"/>
              <a:ext cx="5541430" cy="812800"/>
            </a:xfrm>
            <a:custGeom>
              <a:avLst/>
              <a:gdLst/>
              <a:ahLst/>
              <a:cxnLst/>
              <a:rect l="l" t="t" r="r" b="b"/>
              <a:pathLst>
                <a:path w="5541430" h="812800">
                  <a:moveTo>
                    <a:pt x="0" y="0"/>
                  </a:moveTo>
                  <a:lnTo>
                    <a:pt x="5541430" y="0"/>
                  </a:lnTo>
                  <a:lnTo>
                    <a:pt x="5541430" y="812800"/>
                  </a:lnTo>
                  <a:lnTo>
                    <a:pt x="0" y="812800"/>
                  </a:lnTo>
                  <a:close/>
                </a:path>
              </a:pathLst>
            </a:custGeom>
            <a:solidFill>
              <a:srgbClr val="DAFFFB"/>
            </a:solidFill>
          </p:spPr>
        </p:sp>
        <p:sp>
          <p:nvSpPr>
            <p:cNvPr id="7" name="TextBox 7"/>
            <p:cNvSpPr txBox="1"/>
            <p:nvPr/>
          </p:nvSpPr>
          <p:spPr>
            <a:xfrm>
              <a:off x="0" y="-38100"/>
              <a:ext cx="5541430" cy="850900"/>
            </a:xfrm>
            <a:prstGeom prst="rect">
              <a:avLst/>
            </a:prstGeom>
          </p:spPr>
          <p:txBody>
            <a:bodyPr lIns="50800" tIns="50800" rIns="50800" bIns="50800" rtlCol="0" anchor="ctr"/>
            <a:lstStyle/>
            <a:p>
              <a:pPr algn="ctr">
                <a:lnSpc>
                  <a:spcPts val="3462"/>
                </a:lnSpc>
              </a:pPr>
              <a:endParaRPr/>
            </a:p>
          </p:txBody>
        </p:sp>
      </p:grpSp>
      <p:pic>
        <p:nvPicPr>
          <p:cNvPr id="8" name="Picture 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rcRect l="3789" r="212"/>
          <a:stretch>
            <a:fillRect/>
          </a:stretch>
        </p:blipFill>
        <p:spPr>
          <a:xfrm>
            <a:off x="10215037" y="3149070"/>
            <a:ext cx="7450911" cy="3492674"/>
          </a:xfrm>
          <a:prstGeom prst="rect">
            <a:avLst/>
          </a:prstGeom>
        </p:spPr>
      </p:pic>
      <p:sp>
        <p:nvSpPr>
          <p:cNvPr id="9" name="TextBox 9"/>
          <p:cNvSpPr txBox="1"/>
          <p:nvPr/>
        </p:nvSpPr>
        <p:spPr>
          <a:xfrm>
            <a:off x="1028700" y="457200"/>
            <a:ext cx="7725938" cy="1028700"/>
          </a:xfrm>
          <a:prstGeom prst="rect">
            <a:avLst/>
          </a:prstGeom>
        </p:spPr>
        <p:txBody>
          <a:bodyPr lIns="0" tIns="0" rIns="0" bIns="0" rtlCol="0" anchor="t">
            <a:spAutoFit/>
          </a:bodyPr>
          <a:lstStyle/>
          <a:p>
            <a:pPr algn="ctr">
              <a:lnSpc>
                <a:spcPts val="8400"/>
              </a:lnSpc>
              <a:spcBef>
                <a:spcPct val="0"/>
              </a:spcBef>
            </a:pPr>
            <a:r>
              <a:rPr lang="en-US" sz="6000" b="1">
                <a:solidFill>
                  <a:srgbClr val="FFFFFF"/>
                </a:solidFill>
                <a:latin typeface="Canva Sans Bold"/>
                <a:ea typeface="Canva Sans Bold"/>
                <a:cs typeface="Canva Sans Bold"/>
                <a:sym typeface="Canva Sans Bold"/>
              </a:rPr>
              <a:t>Hill Climbing</a:t>
            </a:r>
          </a:p>
        </p:txBody>
      </p:sp>
      <p:grpSp>
        <p:nvGrpSpPr>
          <p:cNvPr id="10" name="Group 10"/>
          <p:cNvGrpSpPr/>
          <p:nvPr/>
        </p:nvGrpSpPr>
        <p:grpSpPr>
          <a:xfrm>
            <a:off x="353625" y="2009360"/>
            <a:ext cx="9382913" cy="5371156"/>
            <a:chOff x="0" y="0"/>
            <a:chExt cx="12510550" cy="7161541"/>
          </a:xfrm>
        </p:grpSpPr>
        <p:grpSp>
          <p:nvGrpSpPr>
            <p:cNvPr id="11" name="Group 11"/>
            <p:cNvGrpSpPr/>
            <p:nvPr/>
          </p:nvGrpSpPr>
          <p:grpSpPr>
            <a:xfrm>
              <a:off x="0" y="0"/>
              <a:ext cx="12510550" cy="7161541"/>
              <a:chOff x="0" y="0"/>
              <a:chExt cx="2992689" cy="1713135"/>
            </a:xfrm>
          </p:grpSpPr>
          <p:sp>
            <p:nvSpPr>
              <p:cNvPr id="12" name="Freeform 12"/>
              <p:cNvSpPr/>
              <p:nvPr/>
            </p:nvSpPr>
            <p:spPr>
              <a:xfrm>
                <a:off x="0" y="0"/>
                <a:ext cx="2992689" cy="1713135"/>
              </a:xfrm>
              <a:custGeom>
                <a:avLst/>
                <a:gdLst/>
                <a:ahLst/>
                <a:cxnLst/>
                <a:rect l="l" t="t" r="r" b="b"/>
                <a:pathLst>
                  <a:path w="2992689" h="1713135">
                    <a:moveTo>
                      <a:pt x="42081" y="0"/>
                    </a:moveTo>
                    <a:lnTo>
                      <a:pt x="2950608" y="0"/>
                    </a:lnTo>
                    <a:cubicBezTo>
                      <a:pt x="2961769" y="0"/>
                      <a:pt x="2972472" y="4433"/>
                      <a:pt x="2980364" y="12325"/>
                    </a:cubicBezTo>
                    <a:cubicBezTo>
                      <a:pt x="2988255" y="20217"/>
                      <a:pt x="2992689" y="30920"/>
                      <a:pt x="2992689" y="42081"/>
                    </a:cubicBezTo>
                    <a:lnTo>
                      <a:pt x="2992689" y="1671055"/>
                    </a:lnTo>
                    <a:cubicBezTo>
                      <a:pt x="2992689" y="1682215"/>
                      <a:pt x="2988255" y="1692918"/>
                      <a:pt x="2980364" y="1700810"/>
                    </a:cubicBezTo>
                    <a:cubicBezTo>
                      <a:pt x="2972472" y="1708702"/>
                      <a:pt x="2961769" y="1713135"/>
                      <a:pt x="2950608" y="1713135"/>
                    </a:cubicBezTo>
                    <a:lnTo>
                      <a:pt x="42081" y="1713135"/>
                    </a:lnTo>
                    <a:cubicBezTo>
                      <a:pt x="30920" y="1713135"/>
                      <a:pt x="20217" y="1708702"/>
                      <a:pt x="12325" y="1700810"/>
                    </a:cubicBezTo>
                    <a:cubicBezTo>
                      <a:pt x="4433" y="1692918"/>
                      <a:pt x="0" y="1682215"/>
                      <a:pt x="0" y="1671055"/>
                    </a:cubicBezTo>
                    <a:lnTo>
                      <a:pt x="0" y="42081"/>
                    </a:lnTo>
                    <a:cubicBezTo>
                      <a:pt x="0" y="30920"/>
                      <a:pt x="4433" y="20217"/>
                      <a:pt x="12325" y="12325"/>
                    </a:cubicBezTo>
                    <a:cubicBezTo>
                      <a:pt x="20217" y="4433"/>
                      <a:pt x="30920" y="0"/>
                      <a:pt x="42081" y="0"/>
                    </a:cubicBezTo>
                    <a:close/>
                  </a:path>
                </a:pathLst>
              </a:custGeom>
              <a:solidFill>
                <a:srgbClr val="000000">
                  <a:alpha val="0"/>
                </a:srgbClr>
              </a:solidFill>
              <a:ln w="19050" cap="rnd">
                <a:solidFill>
                  <a:srgbClr val="FFFFFF"/>
                </a:solidFill>
                <a:prstDash val="solid"/>
                <a:round/>
              </a:ln>
            </p:spPr>
          </p:sp>
          <p:sp>
            <p:nvSpPr>
              <p:cNvPr id="13" name="TextBox 13"/>
              <p:cNvSpPr txBox="1"/>
              <p:nvPr/>
            </p:nvSpPr>
            <p:spPr>
              <a:xfrm>
                <a:off x="0" y="-47625"/>
                <a:ext cx="2992689" cy="1760760"/>
              </a:xfrm>
              <a:prstGeom prst="rect">
                <a:avLst/>
              </a:prstGeom>
            </p:spPr>
            <p:txBody>
              <a:bodyPr lIns="50800" tIns="50800" rIns="50800" bIns="50800" rtlCol="0" anchor="ctr"/>
              <a:lstStyle/>
              <a:p>
                <a:pPr algn="ctr">
                  <a:lnSpc>
                    <a:spcPts val="3669"/>
                  </a:lnSpc>
                </a:pPr>
                <a:endParaRPr/>
              </a:p>
            </p:txBody>
          </p:sp>
        </p:grpSp>
        <p:sp>
          <p:nvSpPr>
            <p:cNvPr id="14" name="TextBox 14"/>
            <p:cNvSpPr txBox="1"/>
            <p:nvPr/>
          </p:nvSpPr>
          <p:spPr>
            <a:xfrm>
              <a:off x="476721" y="1446117"/>
              <a:ext cx="11750029" cy="2732736"/>
            </a:xfrm>
            <a:prstGeom prst="rect">
              <a:avLst/>
            </a:prstGeom>
          </p:spPr>
          <p:txBody>
            <a:bodyPr lIns="0" tIns="0" rIns="0" bIns="0" rtlCol="0" anchor="t">
              <a:spAutoFit/>
            </a:bodyPr>
            <a:lstStyle/>
            <a:p>
              <a:pPr algn="l">
                <a:lnSpc>
                  <a:spcPts val="2726"/>
                </a:lnSpc>
              </a:pPr>
              <a:r>
                <a:rPr lang="en-US" sz="1947">
                  <a:solidFill>
                    <a:srgbClr val="FFFFFF"/>
                  </a:solidFill>
                  <a:latin typeface="Canva Sans"/>
                  <a:ea typeface="Canva Sans"/>
                  <a:cs typeface="Canva Sans"/>
                  <a:sym typeface="Canva Sans"/>
                </a:rPr>
                <a:t>The heuristic used is the total route distance, calculated by summing the distances between consecutive cities and returning to the start. It directly represents the cost function in the TSP, guiding the hill climbing to minimize the overall tour length. This cost-based heuristic is simple, effective for local improvement, but doesn’t guarantee a global optimum.</a:t>
              </a:r>
            </a:p>
            <a:p>
              <a:pPr algn="l">
                <a:lnSpc>
                  <a:spcPts val="2726"/>
                </a:lnSpc>
              </a:pPr>
              <a:endParaRPr lang="en-US" sz="1947">
                <a:solidFill>
                  <a:srgbClr val="FFFFFF"/>
                </a:solidFill>
                <a:latin typeface="Canva Sans"/>
                <a:ea typeface="Canva Sans"/>
                <a:cs typeface="Canva Sans"/>
                <a:sym typeface="Canva Sans"/>
              </a:endParaRPr>
            </a:p>
          </p:txBody>
        </p:sp>
        <p:sp>
          <p:nvSpPr>
            <p:cNvPr id="15" name="TextBox 15"/>
            <p:cNvSpPr txBox="1"/>
            <p:nvPr/>
          </p:nvSpPr>
          <p:spPr>
            <a:xfrm>
              <a:off x="476721" y="555448"/>
              <a:ext cx="4471298" cy="547158"/>
            </a:xfrm>
            <a:prstGeom prst="rect">
              <a:avLst/>
            </a:prstGeom>
          </p:spPr>
          <p:txBody>
            <a:bodyPr lIns="0" tIns="0" rIns="0" bIns="0" rtlCol="0" anchor="t">
              <a:spAutoFit/>
            </a:bodyPr>
            <a:lstStyle/>
            <a:p>
              <a:pPr algn="l">
                <a:lnSpc>
                  <a:spcPts val="3499"/>
                </a:lnSpc>
              </a:pPr>
              <a:r>
                <a:rPr lang="en-US" sz="2499" b="1">
                  <a:solidFill>
                    <a:srgbClr val="FFFFFF"/>
                  </a:solidFill>
                  <a:latin typeface="Canva Sans Bold"/>
                  <a:ea typeface="Canva Sans Bold"/>
                  <a:cs typeface="Canva Sans Bold"/>
                  <a:sym typeface="Canva Sans Bold"/>
                </a:rPr>
                <a:t>Heuristic Function</a:t>
              </a:r>
            </a:p>
          </p:txBody>
        </p:sp>
        <p:sp>
          <p:nvSpPr>
            <p:cNvPr id="16" name="TextBox 16"/>
            <p:cNvSpPr txBox="1"/>
            <p:nvPr/>
          </p:nvSpPr>
          <p:spPr>
            <a:xfrm>
              <a:off x="476721" y="4131228"/>
              <a:ext cx="3713728" cy="547158"/>
            </a:xfrm>
            <a:prstGeom prst="rect">
              <a:avLst/>
            </a:prstGeom>
          </p:spPr>
          <p:txBody>
            <a:bodyPr lIns="0" tIns="0" rIns="0" bIns="0" rtlCol="0" anchor="t">
              <a:spAutoFit/>
            </a:bodyPr>
            <a:lstStyle/>
            <a:p>
              <a:pPr algn="l">
                <a:lnSpc>
                  <a:spcPts val="3499"/>
                </a:lnSpc>
              </a:pPr>
              <a:r>
                <a:rPr lang="en-US" sz="2499" b="1">
                  <a:solidFill>
                    <a:srgbClr val="FFFFFF"/>
                  </a:solidFill>
                  <a:latin typeface="Canva Sans Bold"/>
                  <a:ea typeface="Canva Sans Bold"/>
                  <a:cs typeface="Canva Sans Bold"/>
                  <a:sym typeface="Canva Sans Bold"/>
                </a:rPr>
                <a:t>Algorithm</a:t>
              </a:r>
            </a:p>
          </p:txBody>
        </p:sp>
        <p:sp>
          <p:nvSpPr>
            <p:cNvPr id="17" name="TextBox 17"/>
            <p:cNvSpPr txBox="1"/>
            <p:nvPr/>
          </p:nvSpPr>
          <p:spPr>
            <a:xfrm>
              <a:off x="476721" y="5100150"/>
              <a:ext cx="11750029" cy="1353185"/>
            </a:xfrm>
            <a:prstGeom prst="rect">
              <a:avLst/>
            </a:prstGeom>
          </p:spPr>
          <p:txBody>
            <a:bodyPr lIns="0" tIns="0" rIns="0" bIns="0" rtlCol="0" anchor="t">
              <a:spAutoFit/>
            </a:bodyPr>
            <a:lstStyle/>
            <a:p>
              <a:pPr algn="l">
                <a:lnSpc>
                  <a:spcPts val="2729"/>
                </a:lnSpc>
                <a:spcBef>
                  <a:spcPct val="0"/>
                </a:spcBef>
              </a:pPr>
              <a:r>
                <a:rPr lang="en-US" sz="1950">
                  <a:solidFill>
                    <a:srgbClr val="FFFFFF"/>
                  </a:solidFill>
                  <a:latin typeface="Canva Sans"/>
                  <a:ea typeface="Canva Sans"/>
                  <a:cs typeface="Canva Sans"/>
                  <a:sym typeface="Canva Sans"/>
                </a:rPr>
                <a:t>The hill climbing algorithm uses route distance as a heuristic to iteratively improve a TSP solution. It’s efficient for small problems but may converge to local minima without escape strategies.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6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0909"/>
        </a:solidFill>
        <a:effectLst/>
      </p:bgPr>
    </p:bg>
    <p:spTree>
      <p:nvGrpSpPr>
        <p:cNvPr id="1" name=""/>
        <p:cNvGrpSpPr/>
        <p:nvPr/>
      </p:nvGrpSpPr>
      <p:grpSpPr>
        <a:xfrm>
          <a:off x="0" y="0"/>
          <a:ext cx="0" cy="0"/>
          <a:chOff x="0" y="0"/>
          <a:chExt cx="0" cy="0"/>
        </a:xfrm>
      </p:grpSpPr>
      <p:grpSp>
        <p:nvGrpSpPr>
          <p:cNvPr id="2" name="Group 2"/>
          <p:cNvGrpSpPr/>
          <p:nvPr/>
        </p:nvGrpSpPr>
        <p:grpSpPr>
          <a:xfrm>
            <a:off x="-386085" y="-159421"/>
            <a:ext cx="19060169" cy="10605843"/>
            <a:chOff x="0" y="0"/>
            <a:chExt cx="25413559" cy="14141124"/>
          </a:xfrm>
        </p:grpSpPr>
        <p:sp>
          <p:nvSpPr>
            <p:cNvPr id="3" name="Freeform 3"/>
            <p:cNvSpPr/>
            <p:nvPr/>
          </p:nvSpPr>
          <p:spPr>
            <a:xfrm>
              <a:off x="0"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4">
                <a:alphaModFix amt="10999"/>
                <a:extLst>
                  <a:ext uri="{96DAC541-7B7A-43D3-8B79-37D633B846F1}">
                    <asvg:svgBlip xmlns:asvg="http://schemas.microsoft.com/office/drawing/2016/SVG/main" r:embed="rId5"/>
                  </a:ext>
                </a:extLst>
              </a:blip>
              <a:stretch>
                <a:fillRect/>
              </a:stretch>
            </a:blipFill>
          </p:spPr>
        </p:sp>
        <p:sp>
          <p:nvSpPr>
            <p:cNvPr id="4" name="Freeform 4"/>
            <p:cNvSpPr/>
            <p:nvPr/>
          </p:nvSpPr>
          <p:spPr>
            <a:xfrm>
              <a:off x="11272435"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4">
                <a:alphaModFix amt="10999"/>
                <a:extLst>
                  <a:ext uri="{96DAC541-7B7A-43D3-8B79-37D633B846F1}">
                    <asvg:svgBlip xmlns:asvg="http://schemas.microsoft.com/office/drawing/2016/SVG/main" r:embed="rId5"/>
                  </a:ext>
                </a:extLst>
              </a:blip>
              <a:stretch>
                <a:fillRect/>
              </a:stretch>
            </a:blipFill>
          </p:spPr>
        </p:sp>
      </p:grpSp>
      <p:grpSp>
        <p:nvGrpSpPr>
          <p:cNvPr id="5" name="Group 5"/>
          <p:cNvGrpSpPr/>
          <p:nvPr/>
        </p:nvGrpSpPr>
        <p:grpSpPr>
          <a:xfrm>
            <a:off x="1028700" y="2139329"/>
            <a:ext cx="8115300" cy="3976661"/>
            <a:chOff x="0" y="0"/>
            <a:chExt cx="2588382" cy="1268360"/>
          </a:xfrm>
        </p:grpSpPr>
        <p:sp>
          <p:nvSpPr>
            <p:cNvPr id="6" name="Freeform 6"/>
            <p:cNvSpPr/>
            <p:nvPr/>
          </p:nvSpPr>
          <p:spPr>
            <a:xfrm>
              <a:off x="0" y="0"/>
              <a:ext cx="2588383" cy="1268360"/>
            </a:xfrm>
            <a:custGeom>
              <a:avLst/>
              <a:gdLst/>
              <a:ahLst/>
              <a:cxnLst/>
              <a:rect l="l" t="t" r="r" b="b"/>
              <a:pathLst>
                <a:path w="2588383" h="1268360">
                  <a:moveTo>
                    <a:pt x="48654" y="0"/>
                  </a:moveTo>
                  <a:lnTo>
                    <a:pt x="2539729" y="0"/>
                  </a:lnTo>
                  <a:cubicBezTo>
                    <a:pt x="2566600" y="0"/>
                    <a:pt x="2588383" y="21783"/>
                    <a:pt x="2588383" y="48654"/>
                  </a:cubicBezTo>
                  <a:lnTo>
                    <a:pt x="2588383" y="1219706"/>
                  </a:lnTo>
                  <a:cubicBezTo>
                    <a:pt x="2588383" y="1246577"/>
                    <a:pt x="2566600" y="1268360"/>
                    <a:pt x="2539729" y="1268360"/>
                  </a:cubicBezTo>
                  <a:lnTo>
                    <a:pt x="48654" y="1268360"/>
                  </a:lnTo>
                  <a:cubicBezTo>
                    <a:pt x="21783" y="1268360"/>
                    <a:pt x="0" y="1246577"/>
                    <a:pt x="0" y="1219706"/>
                  </a:cubicBezTo>
                  <a:lnTo>
                    <a:pt x="0" y="48654"/>
                  </a:lnTo>
                  <a:cubicBezTo>
                    <a:pt x="0" y="21783"/>
                    <a:pt x="21783" y="0"/>
                    <a:pt x="48654" y="0"/>
                  </a:cubicBezTo>
                  <a:close/>
                </a:path>
              </a:pathLst>
            </a:custGeom>
            <a:solidFill>
              <a:srgbClr val="000000">
                <a:alpha val="0"/>
              </a:srgbClr>
            </a:solidFill>
            <a:ln w="19050" cap="rnd">
              <a:solidFill>
                <a:srgbClr val="FFFFFF"/>
              </a:solidFill>
              <a:prstDash val="solid"/>
              <a:round/>
            </a:ln>
          </p:spPr>
        </p:sp>
        <p:sp>
          <p:nvSpPr>
            <p:cNvPr id="7" name="TextBox 7"/>
            <p:cNvSpPr txBox="1"/>
            <p:nvPr/>
          </p:nvSpPr>
          <p:spPr>
            <a:xfrm>
              <a:off x="0" y="-47625"/>
              <a:ext cx="2588382" cy="1315985"/>
            </a:xfrm>
            <a:prstGeom prst="rect">
              <a:avLst/>
            </a:prstGeom>
          </p:spPr>
          <p:txBody>
            <a:bodyPr lIns="50800" tIns="50800" rIns="50800" bIns="50800" rtlCol="0" anchor="ctr"/>
            <a:lstStyle/>
            <a:p>
              <a:pPr algn="ctr">
                <a:lnSpc>
                  <a:spcPts val="3669"/>
                </a:lnSpc>
              </a:pPr>
              <a:endParaRPr/>
            </a:p>
          </p:txBody>
        </p:sp>
      </p:grpSp>
      <p:grpSp>
        <p:nvGrpSpPr>
          <p:cNvPr id="8" name="Group 8"/>
          <p:cNvGrpSpPr/>
          <p:nvPr/>
        </p:nvGrpSpPr>
        <p:grpSpPr>
          <a:xfrm>
            <a:off x="-514350" y="9883238"/>
            <a:ext cx="21040117" cy="3086100"/>
            <a:chOff x="0" y="0"/>
            <a:chExt cx="5541430" cy="812800"/>
          </a:xfrm>
        </p:grpSpPr>
        <p:sp>
          <p:nvSpPr>
            <p:cNvPr id="9" name="Freeform 9"/>
            <p:cNvSpPr/>
            <p:nvPr/>
          </p:nvSpPr>
          <p:spPr>
            <a:xfrm>
              <a:off x="0" y="0"/>
              <a:ext cx="5541430" cy="812800"/>
            </a:xfrm>
            <a:custGeom>
              <a:avLst/>
              <a:gdLst/>
              <a:ahLst/>
              <a:cxnLst/>
              <a:rect l="l" t="t" r="r" b="b"/>
              <a:pathLst>
                <a:path w="5541430" h="812800">
                  <a:moveTo>
                    <a:pt x="0" y="0"/>
                  </a:moveTo>
                  <a:lnTo>
                    <a:pt x="5541430" y="0"/>
                  </a:lnTo>
                  <a:lnTo>
                    <a:pt x="5541430" y="812800"/>
                  </a:lnTo>
                  <a:lnTo>
                    <a:pt x="0" y="812800"/>
                  </a:lnTo>
                  <a:close/>
                </a:path>
              </a:pathLst>
            </a:custGeom>
            <a:solidFill>
              <a:srgbClr val="DAFFFB"/>
            </a:solidFill>
          </p:spPr>
        </p:sp>
        <p:sp>
          <p:nvSpPr>
            <p:cNvPr id="10" name="TextBox 10"/>
            <p:cNvSpPr txBox="1"/>
            <p:nvPr/>
          </p:nvSpPr>
          <p:spPr>
            <a:xfrm>
              <a:off x="0" y="-38100"/>
              <a:ext cx="5541430" cy="850900"/>
            </a:xfrm>
            <a:prstGeom prst="rect">
              <a:avLst/>
            </a:prstGeom>
          </p:spPr>
          <p:txBody>
            <a:bodyPr lIns="50800" tIns="50800" rIns="50800" bIns="50800" rtlCol="0" anchor="ctr"/>
            <a:lstStyle/>
            <a:p>
              <a:pPr algn="ctr">
                <a:lnSpc>
                  <a:spcPts val="3462"/>
                </a:lnSpc>
              </a:pPr>
              <a:endParaRPr/>
            </a:p>
          </p:txBody>
        </p:sp>
      </p:grpSp>
      <p:pic>
        <p:nvPicPr>
          <p:cNvPr id="11" name="Picture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rcRect t="3314" b="3314"/>
          <a:stretch>
            <a:fillRect/>
          </a:stretch>
        </p:blipFill>
        <p:spPr>
          <a:xfrm>
            <a:off x="5281031" y="6515405"/>
            <a:ext cx="9873137" cy="2968418"/>
          </a:xfrm>
          <a:prstGeom prst="rect">
            <a:avLst/>
          </a:prstGeom>
        </p:spPr>
      </p:pic>
      <p:sp>
        <p:nvSpPr>
          <p:cNvPr id="12" name="TextBox 12"/>
          <p:cNvSpPr txBox="1"/>
          <p:nvPr/>
        </p:nvSpPr>
        <p:spPr>
          <a:xfrm>
            <a:off x="1499940" y="2325217"/>
            <a:ext cx="3273323" cy="394007"/>
          </a:xfrm>
          <a:prstGeom prst="rect">
            <a:avLst/>
          </a:prstGeom>
        </p:spPr>
        <p:txBody>
          <a:bodyPr lIns="0" tIns="0" rIns="0" bIns="0" rtlCol="0" anchor="t">
            <a:spAutoFit/>
          </a:bodyPr>
          <a:lstStyle/>
          <a:p>
            <a:pPr algn="l">
              <a:lnSpc>
                <a:spcPts val="3296"/>
              </a:lnSpc>
            </a:pPr>
            <a:r>
              <a:rPr lang="en-US" sz="2354" b="1">
                <a:solidFill>
                  <a:srgbClr val="FFFFFF"/>
                </a:solidFill>
                <a:latin typeface="Canva Sans Bold"/>
                <a:ea typeface="Canva Sans Bold"/>
                <a:cs typeface="Canva Sans Bold"/>
                <a:sym typeface="Canva Sans Bold"/>
              </a:rPr>
              <a:t>Heuristic Function</a:t>
            </a:r>
          </a:p>
        </p:txBody>
      </p:sp>
      <p:sp>
        <p:nvSpPr>
          <p:cNvPr id="13" name="TextBox 13"/>
          <p:cNvSpPr txBox="1"/>
          <p:nvPr/>
        </p:nvSpPr>
        <p:spPr>
          <a:xfrm>
            <a:off x="1499940" y="2858381"/>
            <a:ext cx="7383368" cy="2741295"/>
          </a:xfrm>
          <a:prstGeom prst="rect">
            <a:avLst/>
          </a:prstGeom>
        </p:spPr>
        <p:txBody>
          <a:bodyPr lIns="0" tIns="0" rIns="0" bIns="0" rtlCol="0" anchor="t">
            <a:spAutoFit/>
          </a:bodyPr>
          <a:lstStyle/>
          <a:p>
            <a:pPr algn="l">
              <a:lnSpc>
                <a:spcPts val="2729"/>
              </a:lnSpc>
            </a:pPr>
            <a:r>
              <a:rPr lang="en-US" sz="1950">
                <a:solidFill>
                  <a:srgbClr val="FFFFFF"/>
                </a:solidFill>
                <a:latin typeface="Canva Sans"/>
                <a:ea typeface="Canva Sans"/>
                <a:cs typeface="Canva Sans"/>
                <a:sym typeface="Canva Sans"/>
              </a:rPr>
              <a:t>The heuristic used is the total tour distance, summing the distances between consecutive cities in the current route and returning to the start.</a:t>
            </a:r>
          </a:p>
          <a:p>
            <a:pPr algn="l">
              <a:lnSpc>
                <a:spcPts val="2729"/>
              </a:lnSpc>
            </a:pPr>
            <a:r>
              <a:rPr lang="en-US" sz="1950">
                <a:solidFill>
                  <a:srgbClr val="FFFFFF"/>
                </a:solidFill>
                <a:latin typeface="Canva Sans"/>
                <a:ea typeface="Canva Sans"/>
                <a:cs typeface="Canva Sans"/>
                <a:sym typeface="Canva Sans"/>
              </a:rPr>
              <a:t> It serves as the cost function to minimize, guiding the search toward better solutions.</a:t>
            </a:r>
          </a:p>
          <a:p>
            <a:pPr algn="l">
              <a:lnSpc>
                <a:spcPts val="2729"/>
              </a:lnSpc>
            </a:pPr>
            <a:r>
              <a:rPr lang="en-US" sz="1950">
                <a:solidFill>
                  <a:srgbClr val="FFFFFF"/>
                </a:solidFill>
                <a:latin typeface="Canva Sans"/>
                <a:ea typeface="Canva Sans"/>
                <a:cs typeface="Canva Sans"/>
                <a:sym typeface="Canva Sans"/>
              </a:rPr>
              <a:t> The algorithm also uses a probabilistic acceptance of worse solutions based on temperature, allowing escape from local minima.</a:t>
            </a:r>
          </a:p>
        </p:txBody>
      </p:sp>
      <p:grpSp>
        <p:nvGrpSpPr>
          <p:cNvPr id="14" name="Group 14"/>
          <p:cNvGrpSpPr/>
          <p:nvPr/>
        </p:nvGrpSpPr>
        <p:grpSpPr>
          <a:xfrm>
            <a:off x="9536530" y="2139329"/>
            <a:ext cx="8115300" cy="2720688"/>
            <a:chOff x="0" y="0"/>
            <a:chExt cx="10820400" cy="3627584"/>
          </a:xfrm>
        </p:grpSpPr>
        <p:grpSp>
          <p:nvGrpSpPr>
            <p:cNvPr id="15" name="Group 15"/>
            <p:cNvGrpSpPr/>
            <p:nvPr/>
          </p:nvGrpSpPr>
          <p:grpSpPr>
            <a:xfrm>
              <a:off x="0" y="0"/>
              <a:ext cx="10820400" cy="3627584"/>
              <a:chOff x="0" y="0"/>
              <a:chExt cx="2588382" cy="867766"/>
            </a:xfrm>
          </p:grpSpPr>
          <p:sp>
            <p:nvSpPr>
              <p:cNvPr id="16" name="Freeform 16"/>
              <p:cNvSpPr/>
              <p:nvPr/>
            </p:nvSpPr>
            <p:spPr>
              <a:xfrm>
                <a:off x="0" y="0"/>
                <a:ext cx="2588383" cy="867766"/>
              </a:xfrm>
              <a:custGeom>
                <a:avLst/>
                <a:gdLst/>
                <a:ahLst/>
                <a:cxnLst/>
                <a:rect l="l" t="t" r="r" b="b"/>
                <a:pathLst>
                  <a:path w="2588383" h="867766">
                    <a:moveTo>
                      <a:pt x="48654" y="0"/>
                    </a:moveTo>
                    <a:lnTo>
                      <a:pt x="2539729" y="0"/>
                    </a:lnTo>
                    <a:cubicBezTo>
                      <a:pt x="2566600" y="0"/>
                      <a:pt x="2588383" y="21783"/>
                      <a:pt x="2588383" y="48654"/>
                    </a:cubicBezTo>
                    <a:lnTo>
                      <a:pt x="2588383" y="819112"/>
                    </a:lnTo>
                    <a:cubicBezTo>
                      <a:pt x="2588383" y="845983"/>
                      <a:pt x="2566600" y="867766"/>
                      <a:pt x="2539729" y="867766"/>
                    </a:cubicBezTo>
                    <a:lnTo>
                      <a:pt x="48654" y="867766"/>
                    </a:lnTo>
                    <a:cubicBezTo>
                      <a:pt x="21783" y="867766"/>
                      <a:pt x="0" y="845983"/>
                      <a:pt x="0" y="819112"/>
                    </a:cubicBezTo>
                    <a:lnTo>
                      <a:pt x="0" y="48654"/>
                    </a:lnTo>
                    <a:cubicBezTo>
                      <a:pt x="0" y="21783"/>
                      <a:pt x="21783" y="0"/>
                      <a:pt x="48654" y="0"/>
                    </a:cubicBezTo>
                    <a:close/>
                  </a:path>
                </a:pathLst>
              </a:custGeom>
              <a:solidFill>
                <a:srgbClr val="000000">
                  <a:alpha val="0"/>
                </a:srgbClr>
              </a:solidFill>
              <a:ln w="19050" cap="rnd">
                <a:solidFill>
                  <a:srgbClr val="FFFFFF"/>
                </a:solidFill>
                <a:prstDash val="solid"/>
                <a:round/>
              </a:ln>
            </p:spPr>
          </p:sp>
          <p:sp>
            <p:nvSpPr>
              <p:cNvPr id="17" name="TextBox 17"/>
              <p:cNvSpPr txBox="1"/>
              <p:nvPr/>
            </p:nvSpPr>
            <p:spPr>
              <a:xfrm>
                <a:off x="0" y="-47625"/>
                <a:ext cx="2588382" cy="915391"/>
              </a:xfrm>
              <a:prstGeom prst="rect">
                <a:avLst/>
              </a:prstGeom>
            </p:spPr>
            <p:txBody>
              <a:bodyPr lIns="50800" tIns="50800" rIns="50800" bIns="50800" rtlCol="0" anchor="ctr"/>
              <a:lstStyle/>
              <a:p>
                <a:pPr algn="ctr">
                  <a:lnSpc>
                    <a:spcPts val="3669"/>
                  </a:lnSpc>
                </a:pPr>
                <a:endParaRPr/>
              </a:p>
            </p:txBody>
          </p:sp>
        </p:grpSp>
        <p:sp>
          <p:nvSpPr>
            <p:cNvPr id="18" name="TextBox 18"/>
            <p:cNvSpPr txBox="1"/>
            <p:nvPr/>
          </p:nvSpPr>
          <p:spPr>
            <a:xfrm>
              <a:off x="628320" y="396931"/>
              <a:ext cx="4364431" cy="512643"/>
            </a:xfrm>
            <a:prstGeom prst="rect">
              <a:avLst/>
            </a:prstGeom>
          </p:spPr>
          <p:txBody>
            <a:bodyPr lIns="0" tIns="0" rIns="0" bIns="0" rtlCol="0" anchor="t">
              <a:spAutoFit/>
            </a:bodyPr>
            <a:lstStyle/>
            <a:p>
              <a:pPr algn="l">
                <a:lnSpc>
                  <a:spcPts val="3296"/>
                </a:lnSpc>
              </a:pPr>
              <a:r>
                <a:rPr lang="en-US" sz="2354" b="1">
                  <a:solidFill>
                    <a:srgbClr val="FFFFFF"/>
                  </a:solidFill>
                  <a:latin typeface="Canva Sans Bold"/>
                  <a:ea typeface="Canva Sans Bold"/>
                  <a:cs typeface="Canva Sans Bold"/>
                  <a:sym typeface="Canva Sans Bold"/>
                </a:rPr>
                <a:t>Algorithm</a:t>
              </a:r>
            </a:p>
          </p:txBody>
        </p:sp>
        <p:sp>
          <p:nvSpPr>
            <p:cNvPr id="19" name="TextBox 19"/>
            <p:cNvSpPr txBox="1"/>
            <p:nvPr/>
          </p:nvSpPr>
          <p:spPr>
            <a:xfrm>
              <a:off x="628320" y="1195693"/>
              <a:ext cx="9525513" cy="1810385"/>
            </a:xfrm>
            <a:prstGeom prst="rect">
              <a:avLst/>
            </a:prstGeom>
          </p:spPr>
          <p:txBody>
            <a:bodyPr lIns="0" tIns="0" rIns="0" bIns="0" rtlCol="0" anchor="t">
              <a:spAutoFit/>
            </a:bodyPr>
            <a:lstStyle/>
            <a:p>
              <a:pPr algn="l">
                <a:lnSpc>
                  <a:spcPts val="2729"/>
                </a:lnSpc>
              </a:pPr>
              <a:r>
                <a:rPr lang="en-US" sz="1950">
                  <a:solidFill>
                    <a:srgbClr val="FFFFFF"/>
                  </a:solidFill>
                  <a:latin typeface="Canva Sans"/>
                  <a:ea typeface="Canva Sans"/>
                  <a:cs typeface="Canva Sans"/>
                  <a:sym typeface="Canva Sans"/>
                </a:rPr>
                <a:t>Simulated annealing minimizes TSP route cost using total distance as a heuristic and probabilistically accepts worse solutions early on. This helps it explore the search space better than hill climbing and find near-optimal solutions.</a:t>
              </a:r>
            </a:p>
          </p:txBody>
        </p:sp>
      </p:grpSp>
      <p:sp>
        <p:nvSpPr>
          <p:cNvPr id="20" name="TextBox 20"/>
          <p:cNvSpPr txBox="1"/>
          <p:nvPr/>
        </p:nvSpPr>
        <p:spPr>
          <a:xfrm>
            <a:off x="5281031" y="457200"/>
            <a:ext cx="7725938" cy="1028700"/>
          </a:xfrm>
          <a:prstGeom prst="rect">
            <a:avLst/>
          </a:prstGeom>
        </p:spPr>
        <p:txBody>
          <a:bodyPr lIns="0" tIns="0" rIns="0" bIns="0" rtlCol="0" anchor="t">
            <a:spAutoFit/>
          </a:bodyPr>
          <a:lstStyle/>
          <a:p>
            <a:pPr algn="ctr">
              <a:lnSpc>
                <a:spcPts val="8400"/>
              </a:lnSpc>
              <a:spcBef>
                <a:spcPct val="0"/>
              </a:spcBef>
            </a:pPr>
            <a:r>
              <a:rPr lang="en-US" sz="6000" b="1">
                <a:solidFill>
                  <a:srgbClr val="FFFFFF"/>
                </a:solidFill>
                <a:latin typeface="Canva Sans Bold"/>
                <a:ea typeface="Canva Sans Bold"/>
                <a:cs typeface="Canva Sans Bold"/>
                <a:sym typeface="Canva Sans Bold"/>
              </a:rPr>
              <a:t>Simulated Annealing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75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0909"/>
        </a:solidFill>
        <a:effectLst/>
      </p:bgPr>
    </p:bg>
    <p:spTree>
      <p:nvGrpSpPr>
        <p:cNvPr id="1" name=""/>
        <p:cNvGrpSpPr/>
        <p:nvPr/>
      </p:nvGrpSpPr>
      <p:grpSpPr>
        <a:xfrm>
          <a:off x="0" y="0"/>
          <a:ext cx="0" cy="0"/>
          <a:chOff x="0" y="0"/>
          <a:chExt cx="0" cy="0"/>
        </a:xfrm>
      </p:grpSpPr>
      <p:grpSp>
        <p:nvGrpSpPr>
          <p:cNvPr id="2" name="Group 2"/>
          <p:cNvGrpSpPr/>
          <p:nvPr/>
        </p:nvGrpSpPr>
        <p:grpSpPr>
          <a:xfrm>
            <a:off x="-386085" y="-159421"/>
            <a:ext cx="19060169" cy="10605843"/>
            <a:chOff x="0" y="0"/>
            <a:chExt cx="25413559" cy="14141124"/>
          </a:xfrm>
        </p:grpSpPr>
        <p:sp>
          <p:nvSpPr>
            <p:cNvPr id="3" name="Freeform 3"/>
            <p:cNvSpPr/>
            <p:nvPr/>
          </p:nvSpPr>
          <p:spPr>
            <a:xfrm>
              <a:off x="0"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2">
                <a:alphaModFix amt="10999"/>
                <a:extLst>
                  <a:ext uri="{96DAC541-7B7A-43D3-8B79-37D633B846F1}">
                    <asvg:svgBlip xmlns:asvg="http://schemas.microsoft.com/office/drawing/2016/SVG/main" r:embed="rId3"/>
                  </a:ext>
                </a:extLst>
              </a:blip>
              <a:stretch>
                <a:fillRect/>
              </a:stretch>
            </a:blipFill>
          </p:spPr>
        </p:sp>
        <p:sp>
          <p:nvSpPr>
            <p:cNvPr id="4" name="Freeform 4"/>
            <p:cNvSpPr/>
            <p:nvPr/>
          </p:nvSpPr>
          <p:spPr>
            <a:xfrm>
              <a:off x="11272435"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2">
                <a:alphaModFix amt="10999"/>
                <a:extLst>
                  <a:ext uri="{96DAC541-7B7A-43D3-8B79-37D633B846F1}">
                    <asvg:svgBlip xmlns:asvg="http://schemas.microsoft.com/office/drawing/2016/SVG/main" r:embed="rId3"/>
                  </a:ext>
                </a:extLst>
              </a:blip>
              <a:stretch>
                <a:fillRect/>
              </a:stretch>
            </a:blipFill>
          </p:spPr>
        </p:sp>
      </p:grpSp>
      <p:grpSp>
        <p:nvGrpSpPr>
          <p:cNvPr id="5" name="Group 5"/>
          <p:cNvGrpSpPr/>
          <p:nvPr/>
        </p:nvGrpSpPr>
        <p:grpSpPr>
          <a:xfrm>
            <a:off x="-514350" y="9883238"/>
            <a:ext cx="21040117" cy="3086100"/>
            <a:chOff x="0" y="0"/>
            <a:chExt cx="5541430" cy="812800"/>
          </a:xfrm>
        </p:grpSpPr>
        <p:sp>
          <p:nvSpPr>
            <p:cNvPr id="6" name="Freeform 6"/>
            <p:cNvSpPr/>
            <p:nvPr/>
          </p:nvSpPr>
          <p:spPr>
            <a:xfrm>
              <a:off x="0" y="0"/>
              <a:ext cx="5541430" cy="812800"/>
            </a:xfrm>
            <a:custGeom>
              <a:avLst/>
              <a:gdLst/>
              <a:ahLst/>
              <a:cxnLst/>
              <a:rect l="l" t="t" r="r" b="b"/>
              <a:pathLst>
                <a:path w="5541430" h="812800">
                  <a:moveTo>
                    <a:pt x="0" y="0"/>
                  </a:moveTo>
                  <a:lnTo>
                    <a:pt x="5541430" y="0"/>
                  </a:lnTo>
                  <a:lnTo>
                    <a:pt x="5541430" y="812800"/>
                  </a:lnTo>
                  <a:lnTo>
                    <a:pt x="0" y="812800"/>
                  </a:lnTo>
                  <a:close/>
                </a:path>
              </a:pathLst>
            </a:custGeom>
            <a:solidFill>
              <a:srgbClr val="DAFFFB"/>
            </a:solidFill>
          </p:spPr>
        </p:sp>
        <p:sp>
          <p:nvSpPr>
            <p:cNvPr id="7" name="TextBox 7"/>
            <p:cNvSpPr txBox="1"/>
            <p:nvPr/>
          </p:nvSpPr>
          <p:spPr>
            <a:xfrm>
              <a:off x="0" y="-38100"/>
              <a:ext cx="5541430" cy="850900"/>
            </a:xfrm>
            <a:prstGeom prst="rect">
              <a:avLst/>
            </a:prstGeom>
          </p:spPr>
          <p:txBody>
            <a:bodyPr lIns="50800" tIns="50800" rIns="50800" bIns="50800" rtlCol="0" anchor="ctr"/>
            <a:lstStyle/>
            <a:p>
              <a:pPr algn="ctr">
                <a:lnSpc>
                  <a:spcPts val="3462"/>
                </a:lnSpc>
              </a:pPr>
              <a:endParaRPr/>
            </a:p>
          </p:txBody>
        </p:sp>
      </p:grpSp>
      <p:sp>
        <p:nvSpPr>
          <p:cNvPr id="8" name="Freeform 8"/>
          <p:cNvSpPr/>
          <p:nvPr/>
        </p:nvSpPr>
        <p:spPr>
          <a:xfrm>
            <a:off x="1300641" y="1493327"/>
            <a:ext cx="4863678" cy="7355278"/>
          </a:xfrm>
          <a:custGeom>
            <a:avLst/>
            <a:gdLst/>
            <a:ahLst/>
            <a:cxnLst/>
            <a:rect l="l" t="t" r="r" b="b"/>
            <a:pathLst>
              <a:path w="4863678" h="7355278">
                <a:moveTo>
                  <a:pt x="0" y="0"/>
                </a:moveTo>
                <a:lnTo>
                  <a:pt x="4863678" y="0"/>
                </a:lnTo>
                <a:lnTo>
                  <a:pt x="4863678" y="7355278"/>
                </a:lnTo>
                <a:lnTo>
                  <a:pt x="0" y="7355278"/>
                </a:lnTo>
                <a:lnTo>
                  <a:pt x="0" y="0"/>
                </a:lnTo>
                <a:close/>
              </a:path>
            </a:pathLst>
          </a:custGeom>
          <a:blipFill>
            <a:blip r:embed="rId4"/>
            <a:stretch>
              <a:fillRect/>
            </a:stretch>
          </a:blipFill>
        </p:spPr>
      </p:sp>
      <p:graphicFrame>
        <p:nvGraphicFramePr>
          <p:cNvPr id="9" name="Table 9"/>
          <p:cNvGraphicFramePr>
            <a:graphicFrameLocks noGrp="1"/>
          </p:cNvGraphicFramePr>
          <p:nvPr/>
        </p:nvGraphicFramePr>
        <p:xfrm>
          <a:off x="8162818" y="1161789"/>
          <a:ext cx="7315200" cy="4165599"/>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736794">
                <a:tc>
                  <a:txBody>
                    <a:bodyPr/>
                    <a:lstStyle/>
                    <a:p>
                      <a:pPr algn="l">
                        <a:lnSpc>
                          <a:spcPts val="1679"/>
                        </a:lnSpc>
                        <a:defRPr/>
                      </a:pPr>
                      <a:r>
                        <a:rPr lang="en-US" sz="1200">
                          <a:solidFill>
                            <a:srgbClr val="FFFFFF"/>
                          </a:solidFill>
                          <a:latin typeface="Canva Sans"/>
                          <a:ea typeface="Canva Sans"/>
                          <a:cs typeface="Canva Sans"/>
                          <a:sym typeface="Canva Sans"/>
                        </a:rPr>
                        <a:t>Num of Cities</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BnB</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IDA*</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 Hill Climbing</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Simulated Annealing</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0"/>
                  </a:ext>
                </a:extLst>
              </a:tr>
              <a:tr h="685761">
                <a:tc>
                  <a:txBody>
                    <a:bodyPr/>
                    <a:lstStyle/>
                    <a:p>
                      <a:pPr algn="l">
                        <a:lnSpc>
                          <a:spcPts val="1679"/>
                        </a:lnSpc>
                        <a:defRPr/>
                      </a:pPr>
                      <a:r>
                        <a:rPr lang="en-US" sz="1200">
                          <a:solidFill>
                            <a:srgbClr val="FFFFFF"/>
                          </a:solidFill>
                          <a:latin typeface="Canva Sans"/>
                          <a:ea typeface="Canva Sans"/>
                          <a:cs typeface="Canva Sans"/>
                          <a:sym typeface="Canva Sans"/>
                        </a:rPr>
                        <a:t>5</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0.007</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0.7943</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0.0024</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0.0022</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685761">
                <a:tc>
                  <a:txBody>
                    <a:bodyPr/>
                    <a:lstStyle/>
                    <a:p>
                      <a:pPr algn="l">
                        <a:lnSpc>
                          <a:spcPts val="1679"/>
                        </a:lnSpc>
                        <a:defRPr/>
                      </a:pPr>
                      <a:r>
                        <a:rPr lang="en-US" sz="1200">
                          <a:solidFill>
                            <a:srgbClr val="FFFFFF"/>
                          </a:solidFill>
                          <a:latin typeface="Canva Sans"/>
                          <a:ea typeface="Canva Sans"/>
                          <a:cs typeface="Canva Sans"/>
                          <a:sym typeface="Canva Sans"/>
                        </a:rPr>
                        <a:t>10</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0.0007</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0.7653</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0.0025</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0.0023</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685761">
                <a:tc>
                  <a:txBody>
                    <a:bodyPr/>
                    <a:lstStyle/>
                    <a:p>
                      <a:pPr algn="l">
                        <a:lnSpc>
                          <a:spcPts val="1679"/>
                        </a:lnSpc>
                        <a:defRPr/>
                      </a:pPr>
                      <a:r>
                        <a:rPr lang="en-US" sz="1200">
                          <a:solidFill>
                            <a:srgbClr val="FFFFFF"/>
                          </a:solidFill>
                          <a:latin typeface="Canva Sans"/>
                          <a:ea typeface="Canva Sans"/>
                          <a:cs typeface="Canva Sans"/>
                          <a:sym typeface="Canva Sans"/>
                        </a:rPr>
                        <a:t>15</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0.0009</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0.8397</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0.0024</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0.0022</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685761">
                <a:tc>
                  <a:txBody>
                    <a:bodyPr/>
                    <a:lstStyle/>
                    <a:p>
                      <a:pPr algn="l">
                        <a:lnSpc>
                          <a:spcPts val="1679"/>
                        </a:lnSpc>
                        <a:defRPr/>
                      </a:pPr>
                      <a:r>
                        <a:rPr lang="en-US" sz="1200">
                          <a:solidFill>
                            <a:srgbClr val="FFFFFF"/>
                          </a:solidFill>
                          <a:latin typeface="Canva Sans"/>
                          <a:ea typeface="Canva Sans"/>
                          <a:cs typeface="Canva Sans"/>
                          <a:sym typeface="Canva Sans"/>
                        </a:rPr>
                        <a:t>20</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0.0011</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0.816</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0.0025</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0.0023</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685761">
                <a:tc>
                  <a:txBody>
                    <a:bodyPr/>
                    <a:lstStyle/>
                    <a:p>
                      <a:pPr algn="l">
                        <a:lnSpc>
                          <a:spcPts val="1679"/>
                        </a:lnSpc>
                        <a:defRPr/>
                      </a:pPr>
                      <a:r>
                        <a:rPr lang="en-US" sz="1200">
                          <a:solidFill>
                            <a:srgbClr val="FFFFFF"/>
                          </a:solidFill>
                          <a:latin typeface="Canva Sans"/>
                          <a:ea typeface="Canva Sans"/>
                          <a:cs typeface="Canva Sans"/>
                          <a:sym typeface="Canva Sans"/>
                        </a:rPr>
                        <a:t>25</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0.0009</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1.1849</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0.0028</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l">
                        <a:lnSpc>
                          <a:spcPts val="1679"/>
                        </a:lnSpc>
                        <a:defRPr/>
                      </a:pPr>
                      <a:r>
                        <a:rPr lang="en-US" sz="1200">
                          <a:solidFill>
                            <a:srgbClr val="FFFFFF"/>
                          </a:solidFill>
                          <a:latin typeface="Canva Sans"/>
                          <a:ea typeface="Canva Sans"/>
                          <a:cs typeface="Canva Sans"/>
                          <a:sym typeface="Canva Sans"/>
                        </a:rPr>
                        <a:t>0.0025</a:t>
                      </a:r>
                      <a:endParaRPr lang="en-US" sz="1100"/>
                    </a:p>
                  </a:txBody>
                  <a:tcPr marL="133350" marR="133350" marT="133350" marB="13335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0" name="TextBox 10"/>
          <p:cNvSpPr txBox="1"/>
          <p:nvPr/>
        </p:nvSpPr>
        <p:spPr>
          <a:xfrm>
            <a:off x="9818222" y="6879873"/>
            <a:ext cx="7441078" cy="2140850"/>
          </a:xfrm>
          <a:prstGeom prst="rect">
            <a:avLst/>
          </a:prstGeom>
        </p:spPr>
        <p:txBody>
          <a:bodyPr lIns="0" tIns="0" rIns="0" bIns="0" rtlCol="0" anchor="t">
            <a:spAutoFit/>
          </a:bodyPr>
          <a:lstStyle/>
          <a:p>
            <a:pPr algn="r">
              <a:lnSpc>
                <a:spcPts val="7269"/>
              </a:lnSpc>
            </a:pPr>
            <a:r>
              <a:rPr lang="en-US" sz="7902" b="1" spc="-276">
                <a:solidFill>
                  <a:srgbClr val="DAFFFB"/>
                </a:solidFill>
                <a:latin typeface="Helvetica World Bold"/>
                <a:ea typeface="Helvetica World Bold"/>
                <a:cs typeface="Helvetica World Bold"/>
                <a:sym typeface="Helvetica World Bold"/>
              </a:rPr>
              <a:t>Perfomance of Algorithms</a:t>
            </a:r>
          </a:p>
        </p:txBody>
      </p:sp>
      <p:sp>
        <p:nvSpPr>
          <p:cNvPr id="11" name="TextBox 11"/>
          <p:cNvSpPr txBox="1"/>
          <p:nvPr/>
        </p:nvSpPr>
        <p:spPr>
          <a:xfrm>
            <a:off x="13789861" y="5388526"/>
            <a:ext cx="1688157" cy="264160"/>
          </a:xfrm>
          <a:prstGeom prst="rect">
            <a:avLst/>
          </a:prstGeom>
        </p:spPr>
        <p:txBody>
          <a:bodyPr lIns="0" tIns="0" rIns="0" bIns="0" rtlCol="0" anchor="t">
            <a:spAutoFit/>
          </a:bodyPr>
          <a:lstStyle/>
          <a:p>
            <a:pPr algn="just">
              <a:lnSpc>
                <a:spcPts val="2239"/>
              </a:lnSpc>
              <a:spcBef>
                <a:spcPct val="0"/>
              </a:spcBef>
            </a:pPr>
            <a:r>
              <a:rPr lang="en-US" sz="1599" b="1">
                <a:solidFill>
                  <a:srgbClr val="DAFFFB"/>
                </a:solidFill>
                <a:latin typeface="Canva Sans Bold"/>
                <a:ea typeface="Canva Sans Bold"/>
                <a:cs typeface="Canva Sans Bold"/>
                <a:sym typeface="Canva Sans Bold"/>
              </a:rPr>
              <a:t>Time is in the sec</a:t>
            </a:r>
          </a:p>
        </p:txBody>
      </p:sp>
      <p:sp>
        <p:nvSpPr>
          <p:cNvPr id="12" name="TextBox 12"/>
          <p:cNvSpPr txBox="1"/>
          <p:nvPr/>
        </p:nvSpPr>
        <p:spPr>
          <a:xfrm>
            <a:off x="12147245" y="5709836"/>
            <a:ext cx="3330773" cy="264160"/>
          </a:xfrm>
          <a:prstGeom prst="rect">
            <a:avLst/>
          </a:prstGeom>
        </p:spPr>
        <p:txBody>
          <a:bodyPr lIns="0" tIns="0" rIns="0" bIns="0" rtlCol="0" anchor="t">
            <a:spAutoFit/>
          </a:bodyPr>
          <a:lstStyle/>
          <a:p>
            <a:pPr algn="ctr">
              <a:lnSpc>
                <a:spcPts val="2239"/>
              </a:lnSpc>
              <a:spcBef>
                <a:spcPct val="0"/>
              </a:spcBef>
            </a:pPr>
            <a:r>
              <a:rPr lang="en-US" sz="1599" b="1">
                <a:solidFill>
                  <a:srgbClr val="DAFFFB"/>
                </a:solidFill>
                <a:latin typeface="Canva Sans Bold"/>
                <a:ea typeface="Canva Sans Bold"/>
                <a:cs typeface="Canva Sans Bold"/>
                <a:sym typeface="Canva Sans Bold"/>
              </a:rPr>
              <a:t>BnB is not reaching in some cases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0909"/>
        </a:solidFill>
        <a:effectLst/>
      </p:bgPr>
    </p:bg>
    <p:spTree>
      <p:nvGrpSpPr>
        <p:cNvPr id="1" name=""/>
        <p:cNvGrpSpPr/>
        <p:nvPr/>
      </p:nvGrpSpPr>
      <p:grpSpPr>
        <a:xfrm>
          <a:off x="0" y="0"/>
          <a:ext cx="0" cy="0"/>
          <a:chOff x="0" y="0"/>
          <a:chExt cx="0" cy="0"/>
        </a:xfrm>
      </p:grpSpPr>
      <p:grpSp>
        <p:nvGrpSpPr>
          <p:cNvPr id="2" name="Group 2"/>
          <p:cNvGrpSpPr/>
          <p:nvPr/>
        </p:nvGrpSpPr>
        <p:grpSpPr>
          <a:xfrm>
            <a:off x="-386085" y="-159421"/>
            <a:ext cx="19060169" cy="10605843"/>
            <a:chOff x="0" y="0"/>
            <a:chExt cx="25413559" cy="14141124"/>
          </a:xfrm>
        </p:grpSpPr>
        <p:sp>
          <p:nvSpPr>
            <p:cNvPr id="3" name="Freeform 3"/>
            <p:cNvSpPr/>
            <p:nvPr/>
          </p:nvSpPr>
          <p:spPr>
            <a:xfrm>
              <a:off x="0"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2">
                <a:alphaModFix amt="10999"/>
                <a:extLst>
                  <a:ext uri="{96DAC541-7B7A-43D3-8B79-37D633B846F1}">
                    <asvg:svgBlip xmlns:asvg="http://schemas.microsoft.com/office/drawing/2016/SVG/main" r:embed="rId3"/>
                  </a:ext>
                </a:extLst>
              </a:blip>
              <a:stretch>
                <a:fillRect/>
              </a:stretch>
            </a:blipFill>
          </p:spPr>
        </p:sp>
        <p:sp>
          <p:nvSpPr>
            <p:cNvPr id="4" name="Freeform 4"/>
            <p:cNvSpPr/>
            <p:nvPr/>
          </p:nvSpPr>
          <p:spPr>
            <a:xfrm>
              <a:off x="11272435" y="0"/>
              <a:ext cx="14141124" cy="14141124"/>
            </a:xfrm>
            <a:custGeom>
              <a:avLst/>
              <a:gdLst/>
              <a:ahLst/>
              <a:cxnLst/>
              <a:rect l="l" t="t" r="r" b="b"/>
              <a:pathLst>
                <a:path w="14141124" h="14141124">
                  <a:moveTo>
                    <a:pt x="0" y="0"/>
                  </a:moveTo>
                  <a:lnTo>
                    <a:pt x="14141124" y="0"/>
                  </a:lnTo>
                  <a:lnTo>
                    <a:pt x="14141124" y="14141124"/>
                  </a:lnTo>
                  <a:lnTo>
                    <a:pt x="0" y="14141124"/>
                  </a:lnTo>
                  <a:lnTo>
                    <a:pt x="0" y="0"/>
                  </a:lnTo>
                  <a:close/>
                </a:path>
              </a:pathLst>
            </a:custGeom>
            <a:blipFill>
              <a:blip r:embed="rId2">
                <a:alphaModFix amt="10999"/>
                <a:extLst>
                  <a:ext uri="{96DAC541-7B7A-43D3-8B79-37D633B846F1}">
                    <asvg:svgBlip xmlns:asvg="http://schemas.microsoft.com/office/drawing/2016/SVG/main" r:embed="rId3"/>
                  </a:ext>
                </a:extLst>
              </a:blip>
              <a:stretch>
                <a:fillRect/>
              </a:stretch>
            </a:blipFill>
          </p:spPr>
        </p:sp>
      </p:grpSp>
      <p:sp>
        <p:nvSpPr>
          <p:cNvPr id="5" name="TextBox 5"/>
          <p:cNvSpPr txBox="1"/>
          <p:nvPr/>
        </p:nvSpPr>
        <p:spPr>
          <a:xfrm>
            <a:off x="1028700" y="4401745"/>
            <a:ext cx="9860907" cy="2238026"/>
          </a:xfrm>
          <a:prstGeom prst="rect">
            <a:avLst/>
          </a:prstGeom>
        </p:spPr>
        <p:txBody>
          <a:bodyPr lIns="0" tIns="0" rIns="0" bIns="0" rtlCol="0" anchor="t">
            <a:spAutoFit/>
          </a:bodyPr>
          <a:lstStyle/>
          <a:p>
            <a:pPr algn="l">
              <a:lnSpc>
                <a:spcPts val="14662"/>
              </a:lnSpc>
            </a:pPr>
            <a:r>
              <a:rPr lang="en-US" sz="15937" b="1" spc="-557">
                <a:solidFill>
                  <a:srgbClr val="DAFFFB"/>
                </a:solidFill>
                <a:latin typeface="Helvetica World Bold"/>
                <a:ea typeface="Helvetica World Bold"/>
                <a:cs typeface="Helvetica World Bold"/>
                <a:sym typeface="Helvetica World Bold"/>
              </a:rPr>
              <a:t>Thankyou</a:t>
            </a:r>
          </a:p>
        </p:txBody>
      </p:sp>
      <p:grpSp>
        <p:nvGrpSpPr>
          <p:cNvPr id="6" name="Group 6"/>
          <p:cNvGrpSpPr/>
          <p:nvPr/>
        </p:nvGrpSpPr>
        <p:grpSpPr>
          <a:xfrm>
            <a:off x="1133443" y="7017948"/>
            <a:ext cx="4409458" cy="771704"/>
            <a:chOff x="0" y="0"/>
            <a:chExt cx="1406401" cy="246136"/>
          </a:xfrm>
        </p:grpSpPr>
        <p:sp>
          <p:nvSpPr>
            <p:cNvPr id="7" name="Freeform 7"/>
            <p:cNvSpPr/>
            <p:nvPr/>
          </p:nvSpPr>
          <p:spPr>
            <a:xfrm>
              <a:off x="0" y="0"/>
              <a:ext cx="1406401" cy="246136"/>
            </a:xfrm>
            <a:custGeom>
              <a:avLst/>
              <a:gdLst/>
              <a:ahLst/>
              <a:cxnLst/>
              <a:rect l="l" t="t" r="r" b="b"/>
              <a:pathLst>
                <a:path w="1406401" h="246136">
                  <a:moveTo>
                    <a:pt x="89543" y="0"/>
                  </a:moveTo>
                  <a:lnTo>
                    <a:pt x="1316857" y="0"/>
                  </a:lnTo>
                  <a:cubicBezTo>
                    <a:pt x="1340606" y="0"/>
                    <a:pt x="1363381" y="9434"/>
                    <a:pt x="1380174" y="26227"/>
                  </a:cubicBezTo>
                  <a:cubicBezTo>
                    <a:pt x="1396967" y="43019"/>
                    <a:pt x="1406401" y="65795"/>
                    <a:pt x="1406401" y="89543"/>
                  </a:cubicBezTo>
                  <a:lnTo>
                    <a:pt x="1406401" y="156592"/>
                  </a:lnTo>
                  <a:cubicBezTo>
                    <a:pt x="1406401" y="206046"/>
                    <a:pt x="1366311" y="246136"/>
                    <a:pt x="1316857" y="246136"/>
                  </a:cubicBezTo>
                  <a:lnTo>
                    <a:pt x="89543" y="246136"/>
                  </a:lnTo>
                  <a:cubicBezTo>
                    <a:pt x="40090" y="246136"/>
                    <a:pt x="0" y="206046"/>
                    <a:pt x="0" y="156592"/>
                  </a:cubicBezTo>
                  <a:lnTo>
                    <a:pt x="0" y="89543"/>
                  </a:lnTo>
                  <a:cubicBezTo>
                    <a:pt x="0" y="40090"/>
                    <a:pt x="40090" y="0"/>
                    <a:pt x="89543" y="0"/>
                  </a:cubicBezTo>
                  <a:close/>
                </a:path>
              </a:pathLst>
            </a:custGeom>
            <a:solidFill>
              <a:srgbClr val="000000">
                <a:alpha val="0"/>
              </a:srgbClr>
            </a:solidFill>
            <a:ln w="19050" cap="rnd">
              <a:solidFill>
                <a:srgbClr val="FFFFFF"/>
              </a:solidFill>
              <a:prstDash val="solid"/>
              <a:round/>
            </a:ln>
          </p:spPr>
        </p:sp>
        <p:sp>
          <p:nvSpPr>
            <p:cNvPr id="8" name="TextBox 8"/>
            <p:cNvSpPr txBox="1"/>
            <p:nvPr/>
          </p:nvSpPr>
          <p:spPr>
            <a:xfrm>
              <a:off x="0" y="-47625"/>
              <a:ext cx="1406401" cy="293761"/>
            </a:xfrm>
            <a:prstGeom prst="rect">
              <a:avLst/>
            </a:prstGeom>
          </p:spPr>
          <p:txBody>
            <a:bodyPr lIns="50800" tIns="50800" rIns="50800" bIns="50800" rtlCol="0" anchor="ctr"/>
            <a:lstStyle/>
            <a:p>
              <a:pPr algn="ctr">
                <a:lnSpc>
                  <a:spcPts val="3669"/>
                </a:lnSpc>
              </a:pPr>
              <a:endParaRPr/>
            </a:p>
          </p:txBody>
        </p:sp>
      </p:grpSp>
      <p:sp>
        <p:nvSpPr>
          <p:cNvPr id="9" name="TextBox 9"/>
          <p:cNvSpPr txBox="1"/>
          <p:nvPr/>
        </p:nvSpPr>
        <p:spPr>
          <a:xfrm>
            <a:off x="1538253" y="7043209"/>
            <a:ext cx="3580787" cy="578308"/>
          </a:xfrm>
          <a:prstGeom prst="rect">
            <a:avLst/>
          </a:prstGeom>
        </p:spPr>
        <p:txBody>
          <a:bodyPr lIns="0" tIns="0" rIns="0" bIns="0" rtlCol="0" anchor="t">
            <a:spAutoFit/>
          </a:bodyPr>
          <a:lstStyle/>
          <a:p>
            <a:pPr algn="ctr">
              <a:lnSpc>
                <a:spcPts val="4747"/>
              </a:lnSpc>
            </a:pPr>
            <a:r>
              <a:rPr lang="en-US" sz="3390">
                <a:solidFill>
                  <a:srgbClr val="FFFFFF"/>
                </a:solidFill>
                <a:latin typeface="Canva Sans"/>
                <a:ea typeface="Canva Sans"/>
                <a:cs typeface="Canva Sans"/>
                <a:sym typeface="Canva Sans"/>
              </a:rPr>
              <a:t>Assignment-2</a:t>
            </a:r>
          </a:p>
        </p:txBody>
      </p:sp>
      <p:grpSp>
        <p:nvGrpSpPr>
          <p:cNvPr id="10" name="Group 10"/>
          <p:cNvGrpSpPr/>
          <p:nvPr/>
        </p:nvGrpSpPr>
        <p:grpSpPr>
          <a:xfrm>
            <a:off x="-514350" y="9883238"/>
            <a:ext cx="21040117" cy="3086100"/>
            <a:chOff x="0" y="0"/>
            <a:chExt cx="5541430" cy="812800"/>
          </a:xfrm>
        </p:grpSpPr>
        <p:sp>
          <p:nvSpPr>
            <p:cNvPr id="11" name="Freeform 11"/>
            <p:cNvSpPr/>
            <p:nvPr/>
          </p:nvSpPr>
          <p:spPr>
            <a:xfrm>
              <a:off x="0" y="0"/>
              <a:ext cx="5541430" cy="812800"/>
            </a:xfrm>
            <a:custGeom>
              <a:avLst/>
              <a:gdLst/>
              <a:ahLst/>
              <a:cxnLst/>
              <a:rect l="l" t="t" r="r" b="b"/>
              <a:pathLst>
                <a:path w="5541430" h="812800">
                  <a:moveTo>
                    <a:pt x="0" y="0"/>
                  </a:moveTo>
                  <a:lnTo>
                    <a:pt x="5541430" y="0"/>
                  </a:lnTo>
                  <a:lnTo>
                    <a:pt x="5541430" y="812800"/>
                  </a:lnTo>
                  <a:lnTo>
                    <a:pt x="0" y="812800"/>
                  </a:lnTo>
                  <a:close/>
                </a:path>
              </a:pathLst>
            </a:custGeom>
            <a:solidFill>
              <a:srgbClr val="DAFFFB"/>
            </a:solidFill>
          </p:spPr>
        </p:sp>
        <p:sp>
          <p:nvSpPr>
            <p:cNvPr id="12" name="TextBox 12"/>
            <p:cNvSpPr txBox="1"/>
            <p:nvPr/>
          </p:nvSpPr>
          <p:spPr>
            <a:xfrm>
              <a:off x="0" y="-38100"/>
              <a:ext cx="5541430" cy="850900"/>
            </a:xfrm>
            <a:prstGeom prst="rect">
              <a:avLst/>
            </a:prstGeom>
          </p:spPr>
          <p:txBody>
            <a:bodyPr lIns="50800" tIns="50800" rIns="50800" bIns="50800" rtlCol="0" anchor="ctr"/>
            <a:lstStyle/>
            <a:p>
              <a:pPr algn="ctr">
                <a:lnSpc>
                  <a:spcPts val="3462"/>
                </a:lnSpc>
              </a:pPr>
              <a:endParaRPr/>
            </a:p>
          </p:txBody>
        </p:sp>
      </p:grpSp>
      <p:sp>
        <p:nvSpPr>
          <p:cNvPr id="13" name="Freeform 13"/>
          <p:cNvSpPr/>
          <p:nvPr/>
        </p:nvSpPr>
        <p:spPr>
          <a:xfrm flipH="1">
            <a:off x="10889607" y="1028700"/>
            <a:ext cx="7755612" cy="9472503"/>
          </a:xfrm>
          <a:custGeom>
            <a:avLst/>
            <a:gdLst/>
            <a:ahLst/>
            <a:cxnLst/>
            <a:rect l="l" t="t" r="r" b="b"/>
            <a:pathLst>
              <a:path w="7755612" h="9472503">
                <a:moveTo>
                  <a:pt x="7755612" y="0"/>
                </a:moveTo>
                <a:lnTo>
                  <a:pt x="0" y="0"/>
                </a:lnTo>
                <a:lnTo>
                  <a:pt x="0" y="9472503"/>
                </a:lnTo>
                <a:lnTo>
                  <a:pt x="7755612" y="9472503"/>
                </a:lnTo>
                <a:lnTo>
                  <a:pt x="7755612" y="0"/>
                </a:lnTo>
                <a:close/>
              </a:path>
            </a:pathLst>
          </a:custGeom>
          <a:blipFill>
            <a:blip r:embed="rId4"/>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463</Words>
  <Application>Microsoft Office PowerPoint</Application>
  <PresentationFormat>Custom</PresentationFormat>
  <Paragraphs>64</Paragraphs>
  <Slides>7</Slides>
  <Notes>0</Notes>
  <HiddenSlides>0</HiddenSlides>
  <MMClips>4</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Calibri</vt:lpstr>
      <vt:lpstr>Canva Sans</vt:lpstr>
      <vt:lpstr>Canva Sans Bold</vt:lpstr>
      <vt:lpstr>Helvetica World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Assignment-2</dc:title>
  <cp:lastModifiedBy>Aakarsh Bansal</cp:lastModifiedBy>
  <cp:revision>2</cp:revision>
  <dcterms:created xsi:type="dcterms:W3CDTF">2006-08-16T00:00:00Z</dcterms:created>
  <dcterms:modified xsi:type="dcterms:W3CDTF">2025-04-06T07:32:23Z</dcterms:modified>
  <dc:identifier>DAGjyDKrUro</dc:identifier>
</cp:coreProperties>
</file>